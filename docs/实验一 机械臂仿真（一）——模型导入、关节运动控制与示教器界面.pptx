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76" r:id="rId5"/>
    <p:sldId id="279" r:id="rId6"/>
    <p:sldId id="261" r:id="rId7"/>
    <p:sldId id="265" r:id="rId8"/>
    <p:sldId id="266" r:id="rId9"/>
    <p:sldId id="267" r:id="rId10"/>
    <p:sldId id="286" r:id="rId11"/>
    <p:sldId id="287" r:id="rId12"/>
    <p:sldId id="288" r:id="rId13"/>
    <p:sldId id="280" r:id="rId14"/>
    <p:sldId id="281" r:id="rId15"/>
    <p:sldId id="282" r:id="rId16"/>
    <p:sldId id="283" r:id="rId17"/>
    <p:sldId id="284" r:id="rId18"/>
    <p:sldId id="259" r:id="rId19"/>
    <p:sldId id="278" r:id="rId20"/>
    <p:sldId id="260" r:id="rId21"/>
    <p:sldId id="263" r:id="rId22"/>
    <p:sldId id="262" r:id="rId23"/>
    <p:sldId id="264" r:id="rId24"/>
    <p:sldId id="268" r:id="rId25"/>
    <p:sldId id="269" r:id="rId26"/>
    <p:sldId id="270" r:id="rId27"/>
    <p:sldId id="285" r:id="rId28"/>
    <p:sldId id="289" r:id="rId29"/>
    <p:sldId id="271" r:id="rId30"/>
    <p:sldId id="272" r:id="rId31"/>
    <p:sldId id="273" r:id="rId32"/>
    <p:sldId id="274" r:id="rId33"/>
    <p:sldId id="275" r:id="rId34"/>
  </p:sldIdLst>
  <p:sldSz cx="12192000" cy="6858000"/>
  <p:notesSz cx="12192000" cy="6858000"/>
  <p:embeddedFontLst>
    <p:embeddedFont>
      <p:font typeface="MiSans" panose="02010600030101010101" charset="-122"/>
      <p:regular r:id="rId36"/>
    </p:embeddedFont>
    <p:embeddedFont>
      <p:font typeface="Cambria Math" panose="02040503050406030204" pitchFamily="18" charset="0"/>
      <p:regular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等线" panose="02010600030101010101" pitchFamily="2" charset="-122"/>
      <p:regular r:id="rId42"/>
      <p:bold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8" y="2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437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开场：本系列实验共28学时，最终交付一个基于Three.js/WebGL的机械臂仿真平台。实验一是地基——先把模型"立起来、动起来"。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强调三个实验是"同一条产线"上的三个工位：实验一解决"看得见、动得了"，实验二解决"算得准、听得懂"，实验三解决"自己规划、避开障碍"。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用"真实机器人很贵、很慢、会撞坏"引入仿真价值。右侧栈图来自 MIT 6.4210 Lec1 对操作系统的解剖：感知—规划—控制三层。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关节类型只需掌握两种基本副：转动副与移动副。五种构型讲解时强调"关节型（全转动）最像人臂、最灵活，因此成为工业主流"。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旋转四种表示要讲清各自适用场景：矩阵用于计算、RPY用于人机交互、四元数用于插值与存储。万向节锁用云台例子直观说明。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关节坐标系原理页。三级分解：平移 t_j（常量）→ R_fix（常量，局部 Z = 运动轴）→ Z(θ)（唯一变量）。FK 递推与 Three.js 场景树 matrixWorld 完全同构——渲染引擎替我们做了矩阵连乘。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DH 法是本实验的数学核心。要求每个学生能对着 UR5 的 DH 参数表手算一次全零位形的末端位姿，作为 FK 验证的基准。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先让学生跑通"改代码→刷新→看效果"的最小回路，再谈机械臂。DevTools 四项技能对应实验内容1的要求。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强调"场景树就是运动链"——Three.js 的父子节点变换传递与机械臂连杆变换链一一对应，这是实验一最重要的认知锚点。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素材分析页。强调"四件套"分工：GLB 给程序用，joint_map.json / robot_spec.yaml 给人和校验用，robot.urdf 给 ROS 生态用。命名链 link_base→J1→link_1…是后面所有代码的查找依据。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URDF 是 ROS 生态的标准描述格式。重点讲清 joint 的四个子元素：parent / child / origin / axis，以及 limit 如何映射到代码里的限位。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代码解析页。重点是 qZero 机制：GLB 里 J_i 的静止旋转就是 R_fix，setJoint 时在 qZero 基础上左乘关节角旋转。validateAgainstMap 是加载期关口，尽早暴露素材错误。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演示 clamp 函数的两行实现。UR5 限位表来自实验规划文档，注意 Base 与 Wrist 是 ±360°（URDF 中常声明为 continuous）。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示教器是工业机器人的"方向盘"。先讲三种示教范式，再对照功能清单实现界面。急停必须是最高优先级——仿真中也要养成习惯。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FK 验证采用三档：全零位形（解析）、已知角度手算（DH）、随机位形对拍（场景树 vs 自写 FK 函数）。讲清 RPY 与四元数两种显示的换算。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这一页带学生完整走一遍最小实现流程。五步顺序不要随意打乱：先建关节映射表再做 UI 绑定，否则调试时无法区分是模型错还是界面错。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GIF 动画演示页。动画由 FK 递推驱动：每帧给定 5 个关节角，末端沿轨迹运动。可现场对照第 11 页的递推公式，让学生指出每一帧对应的 θ 向量。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这一页等价于"排错手册"。左侧是症状，右侧是对策。强调轴向错误是最高频问题：URDF 的 axis 定义在子连杆系，而不是世界系。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验收标准逐条对应实验要求。学时分配是建议值，允许学生按进度微调，但模型解析+FK验证合计不得少于4学时——这是本实验的重心。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收尾时现场抛出问题："给定一个目标位姿，六个关节角各是多少？"让学生意识到 FK 的反问题并不平凡，自然引出实验二。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588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计算机图形与动画 · 机械臂仿真实验系列</a:t>
            </a:r>
            <a:endParaRPr lang="en-US" sz="1200" noProof="1"/>
          </a:p>
        </p:txBody>
      </p:sp>
      <p:sp>
        <p:nvSpPr>
          <p:cNvPr id="3" name="expNo"/>
          <p:cNvSpPr txBox="1"/>
          <p:nvPr/>
        </p:nvSpPr>
        <p:spPr>
          <a:xfrm>
            <a:off x="711200" y="1524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kern="0" spc="400" noProof="1">
                <a:solidFill>
                  <a:srgbClr val="C75B26"/>
                </a:solidFill>
                <a:latin typeface="MiSans"/>
                <a:ea typeface="MiSans"/>
              </a:rPr>
              <a:t>实验一 · 8 学时</a:t>
            </a:r>
            <a:endParaRPr lang="en-US" sz="1600" noProof="1"/>
          </a:p>
        </p:txBody>
      </p:sp>
      <p:sp>
        <p:nvSpPr>
          <p:cNvPr id="4" name="mainTitle"/>
          <p:cNvSpPr txBox="1"/>
          <p:nvPr/>
        </p:nvSpPr>
        <p:spPr>
          <a:xfrm>
            <a:off x="711200" y="1930400"/>
            <a:ext cx="711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22271F"/>
                </a:solidFill>
                <a:latin typeface="MiSans"/>
                <a:ea typeface="MiSans"/>
              </a:rPr>
              <a:t>机械臂仿真（一）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711200" y="2692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noProof="1">
                <a:solidFill>
                  <a:srgbClr val="31523F"/>
                </a:solidFill>
                <a:latin typeface="MiSans"/>
                <a:ea typeface="MiSans"/>
              </a:rPr>
              <a:t>模型导入 · 关节运动控制 · 示教器界面</a:t>
            </a:r>
            <a:endParaRPr lang="en-US" sz="1900" noProof="1"/>
          </a:p>
        </p:txBody>
      </p:sp>
      <p:sp>
        <p:nvSpPr>
          <p:cNvPr id="6" name="metaLine"/>
          <p:cNvSpPr txBox="1"/>
          <p:nvPr/>
        </p:nvSpPr>
        <p:spPr>
          <a:xfrm>
            <a:off x="711200" y="3276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课程模块 CM11　|　支撑课程目标 CO4（服务 CO1 / CO3）</a:t>
            </a:r>
            <a:endParaRPr lang="en-US" sz="1250" noProof="1"/>
          </a:p>
        </p:txBody>
      </p:sp>
      <p:sp>
        <p:nvSpPr>
          <p:cNvPr id="7" name="cover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eyJ2aWV3Qm94IjpbNTIwLDFdLCJwb2ludHMiOiIwLDAgNTIwLDAiLCJjdXJ2ZSI6InNoYXJwIn0</pptd:line>
              </p:ext>
            </p:extLst>
          </p:nvPr>
        </p:nvSpPr>
        <p:spPr>
          <a:xfrm>
            <a:off x="711200" y="37592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keyPoints"/>
          <p:cNvSpPr txBox="1"/>
          <p:nvPr/>
        </p:nvSpPr>
        <p:spPr>
          <a:xfrm>
            <a:off x="711200" y="3987800"/>
            <a:ext cx="685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sz="1300" dirty="0">
                <a:solidFill>
                  <a:srgbClr val="C75B26"/>
                </a:solidFill>
                <a:latin typeface="MiSans"/>
                <a:ea typeface="MiSans"/>
              </a:rPr>
              <a:t>01</a:t>
            </a:r>
            <a:r>
              <a:rPr sz="1300" dirty="0">
                <a:solidFill>
                  <a:srgbClr val="22271F"/>
                </a:solidFill>
                <a:latin typeface="MiSans"/>
                <a:ea typeface="MiSans"/>
              </a:rPr>
              <a:t>　Three.js / WebGL </a:t>
            </a:r>
            <a:r>
              <a:rPr sz="1300" dirty="0" err="1">
                <a:solidFill>
                  <a:srgbClr val="22271F"/>
                </a:solidFill>
                <a:latin typeface="MiSans"/>
                <a:ea typeface="MiSans"/>
              </a:rPr>
              <a:t>开发环境与调试工具链</a:t>
            </a:r>
            <a:endParaRPr lang="en-US" sz="1300" noProof="1"/>
          </a:p>
          <a:p>
            <a:pPr>
              <a:lnSpc>
                <a:spcPct val="180000"/>
              </a:lnSpc>
            </a:pPr>
            <a:r>
              <a:rPr sz="1300" dirty="0">
                <a:solidFill>
                  <a:srgbClr val="C75B26"/>
                </a:solidFill>
                <a:latin typeface="MiSans"/>
                <a:ea typeface="MiSans"/>
              </a:rPr>
              <a:t>02</a:t>
            </a:r>
            <a:r>
              <a:rPr sz="1300" dirty="0">
                <a:solidFill>
                  <a:srgbClr val="22271F"/>
                </a:solidFill>
                <a:latin typeface="MiSans"/>
                <a:ea typeface="MiSans"/>
              </a:rPr>
              <a:t>　URDF / GLTF </a:t>
            </a:r>
            <a:r>
              <a:rPr sz="1300" dirty="0" err="1">
                <a:solidFill>
                  <a:srgbClr val="22271F"/>
                </a:solidFill>
                <a:latin typeface="MiSans"/>
                <a:ea typeface="MiSans"/>
              </a:rPr>
              <a:t>模型解析与场景树组织</a:t>
            </a:r>
            <a:endParaRPr sz="1300" dirty="0">
              <a:solidFill>
                <a:srgbClr val="22271F"/>
              </a:solidFill>
              <a:latin typeface="MiSans"/>
              <a:ea typeface="MiSans"/>
            </a:endParaRPr>
          </a:p>
          <a:p>
            <a:pPr>
              <a:lnSpc>
                <a:spcPct val="180000"/>
              </a:lnSpc>
            </a:pPr>
            <a:r>
              <a:rPr sz="1300" dirty="0">
                <a:solidFill>
                  <a:srgbClr val="C75B26"/>
                </a:solidFill>
                <a:latin typeface="MiSans"/>
                <a:ea typeface="MiSans"/>
              </a:rPr>
              <a:t>03</a:t>
            </a:r>
            <a:r>
              <a:rPr sz="1300" dirty="0">
                <a:solidFill>
                  <a:srgbClr val="22271F"/>
                </a:solidFill>
                <a:latin typeface="MiSans"/>
                <a:ea typeface="MiSans"/>
              </a:rPr>
              <a:t>　正 / </a:t>
            </a:r>
            <a:r>
              <a:rPr sz="1300" dirty="0" err="1">
                <a:solidFill>
                  <a:srgbClr val="22271F"/>
                </a:solidFill>
                <a:latin typeface="MiSans"/>
                <a:ea typeface="MiSans"/>
              </a:rPr>
              <a:t>逆运动学（FK</a:t>
            </a:r>
            <a:r>
              <a:rPr sz="1300" dirty="0">
                <a:solidFill>
                  <a:srgbClr val="22271F"/>
                </a:solidFill>
                <a:latin typeface="MiSans"/>
                <a:ea typeface="MiSans"/>
              </a:rPr>
              <a:t> · </a:t>
            </a:r>
            <a:r>
              <a:rPr sz="1300" dirty="0" err="1">
                <a:solidFill>
                  <a:srgbClr val="22271F"/>
                </a:solidFill>
                <a:latin typeface="MiSans"/>
                <a:ea typeface="MiSans"/>
              </a:rPr>
              <a:t>IK）基础</a:t>
            </a:r>
            <a:endParaRPr sz="1300" dirty="0">
              <a:solidFill>
                <a:srgbClr val="22271F"/>
              </a:solidFill>
              <a:latin typeface="MiSans"/>
              <a:ea typeface="MiSans"/>
            </a:endParaRPr>
          </a:p>
          <a:p>
            <a:pPr>
              <a:lnSpc>
                <a:spcPct val="180000"/>
              </a:lnSpc>
            </a:pPr>
            <a:r>
              <a:rPr sz="1300" dirty="0">
                <a:solidFill>
                  <a:srgbClr val="C75B26"/>
                </a:solidFill>
                <a:latin typeface="MiSans"/>
                <a:ea typeface="MiSans"/>
              </a:rPr>
              <a:t>04</a:t>
            </a:r>
            <a:r>
              <a:rPr sz="1300" dirty="0">
                <a:solidFill>
                  <a:srgbClr val="22271F"/>
                </a:solidFill>
                <a:latin typeface="MiSans"/>
                <a:ea typeface="MiSans"/>
              </a:rPr>
              <a:t>　</a:t>
            </a:r>
            <a:r>
              <a:rPr sz="1300" dirty="0" err="1">
                <a:solidFill>
                  <a:srgbClr val="22271F"/>
                </a:solidFill>
                <a:latin typeface="MiSans"/>
                <a:ea typeface="MiSans"/>
              </a:rPr>
              <a:t>关节限位与实时姿态驱动</a:t>
            </a:r>
            <a:endParaRPr sz="1300" dirty="0">
              <a:solidFill>
                <a:srgbClr val="22271F"/>
              </a:solidFill>
              <a:latin typeface="MiSans"/>
              <a:ea typeface="MiSans"/>
            </a:endParaRPr>
          </a:p>
          <a:p>
            <a:pPr>
              <a:lnSpc>
                <a:spcPct val="180000"/>
              </a:lnSpc>
            </a:pPr>
            <a:r>
              <a:rPr sz="1300" dirty="0">
                <a:solidFill>
                  <a:srgbClr val="C75B26"/>
                </a:solidFill>
                <a:latin typeface="MiSans"/>
                <a:ea typeface="MiSans"/>
              </a:rPr>
              <a:t>05</a:t>
            </a:r>
            <a:r>
              <a:rPr sz="1300" dirty="0">
                <a:solidFill>
                  <a:srgbClr val="22271F"/>
                </a:solidFill>
                <a:latin typeface="MiSans"/>
                <a:ea typeface="MiSans"/>
              </a:rPr>
              <a:t>　</a:t>
            </a:r>
            <a:r>
              <a:rPr sz="1300" dirty="0" err="1">
                <a:solidFill>
                  <a:srgbClr val="22271F"/>
                </a:solidFill>
                <a:latin typeface="MiSans"/>
                <a:ea typeface="MiSans"/>
              </a:rPr>
              <a:t>示教器交互编程与轨迹</a:t>
            </a:r>
            <a:r>
              <a:rPr sz="1300" dirty="0">
                <a:solidFill>
                  <a:srgbClr val="22271F"/>
                </a:solidFill>
                <a:latin typeface="MiSans"/>
                <a:ea typeface="MiSans"/>
              </a:rPr>
              <a:t> / </a:t>
            </a:r>
            <a:r>
              <a:rPr sz="1300" dirty="0" err="1">
                <a:solidFill>
                  <a:srgbClr val="22271F"/>
                </a:solidFill>
                <a:latin typeface="MiSans"/>
                <a:ea typeface="MiSans"/>
              </a:rPr>
              <a:t>可达区域分析</a:t>
            </a:r>
            <a:endParaRPr sz="1300" dirty="0">
              <a:solidFill>
                <a:srgbClr val="22271F"/>
              </a:solidFill>
              <a:latin typeface="MiSans"/>
              <a:ea typeface="MiSans"/>
            </a:endParaRPr>
          </a:p>
        </p:txBody>
      </p:sp>
      <p:sp>
        <p:nvSpPr>
          <p:cNvPr id="9" name="base"/>
          <p:cNvSpPr/>
          <p:nvPr/>
        </p:nvSpPr>
        <p:spPr>
          <a:xfrm>
            <a:off x="8890000" y="5130800"/>
            <a:ext cx="1270000" cy="152400"/>
          </a:xfrm>
          <a:prstGeom prst="rect">
            <a:avLst/>
          </a:prstGeom>
          <a:solidFill>
            <a:srgbClr val="3152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post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eyJ2aWV3Qm94IjpbMTAsOTRdLCJwb2ludHMiOiI1LDk0IDUsMCIsImN1cnZlIjoic2hhcnAifQ</pptd:line>
              </p:ext>
            </p:extLst>
          </p:nvPr>
        </p:nvSpPr>
        <p:spPr>
          <a:xfrm>
            <a:off x="9461500" y="3937000"/>
            <a:ext cx="127000" cy="1193800"/>
          </a:xfrm>
          <a:custGeom>
            <a:avLst/>
            <a:gdLst/>
            <a:ahLst/>
            <a:cxnLst/>
            <a:rect l="l" t="t" r="r" b="b"/>
            <a:pathLst>
              <a:path w="10" h="94">
                <a:moveTo>
                  <a:pt x="5" y="94"/>
                </a:moveTo>
                <a:lnTo>
                  <a:pt x="5" y="0"/>
                </a:lnTo>
              </a:path>
            </a:pathLst>
          </a:custGeom>
          <a:noFill/>
          <a:ln w="1270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joint1"/>
          <p:cNvSpPr/>
          <p:nvPr/>
        </p:nvSpPr>
        <p:spPr>
          <a:xfrm>
            <a:off x="9347200" y="3759200"/>
            <a:ext cx="355600" cy="355600"/>
          </a:xfrm>
          <a:prstGeom prst="ellipse">
            <a:avLst/>
          </a:prstGeom>
          <a:solidFill>
            <a:srgbClr val="FBFAF6"/>
          </a:solidFill>
          <a:ln w="381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joint1dot"/>
          <p:cNvSpPr/>
          <p:nvPr/>
        </p:nvSpPr>
        <p:spPr>
          <a:xfrm>
            <a:off x="9461500" y="3873500"/>
            <a:ext cx="127000" cy="127000"/>
          </a:xfrm>
          <a:prstGeom prst="ellipse">
            <a:avLst/>
          </a:prstGeom>
          <a:solidFill>
            <a:srgbClr val="C75B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eg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eyJ2aWV3Qm94IjpbNjUsODVdLCJwb2ludHMiOiIwLDg1IDY1LDAiLCJjdXJ2ZSI6InNoYXJwIn0</pptd:line>
              </p:ext>
            </p:extLst>
          </p:nvPr>
        </p:nvSpPr>
        <p:spPr>
          <a:xfrm>
            <a:off x="9525000" y="2857500"/>
            <a:ext cx="825500" cy="1079500"/>
          </a:xfrm>
          <a:custGeom>
            <a:avLst/>
            <a:gdLst/>
            <a:ahLst/>
            <a:cxnLst/>
            <a:rect l="l" t="t" r="r" b="b"/>
            <a:pathLst>
              <a:path w="65" h="85">
                <a:moveTo>
                  <a:pt x="0" y="85"/>
                </a:moveTo>
                <a:lnTo>
                  <a:pt x="65" y="0"/>
                </a:lnTo>
              </a:path>
            </a:pathLst>
          </a:custGeom>
          <a:noFill/>
          <a:ln w="1270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joint2"/>
          <p:cNvSpPr/>
          <p:nvPr/>
        </p:nvSpPr>
        <p:spPr>
          <a:xfrm>
            <a:off x="10172700" y="2679700"/>
            <a:ext cx="355600" cy="355600"/>
          </a:xfrm>
          <a:prstGeom prst="ellipse">
            <a:avLst/>
          </a:prstGeom>
          <a:solidFill>
            <a:srgbClr val="FBFAF6"/>
          </a:solidFill>
          <a:ln w="381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joint2dot"/>
          <p:cNvSpPr/>
          <p:nvPr/>
        </p:nvSpPr>
        <p:spPr>
          <a:xfrm>
            <a:off x="10287000" y="2794000"/>
            <a:ext cx="127000" cy="127000"/>
          </a:xfrm>
          <a:prstGeom prst="ellipse">
            <a:avLst/>
          </a:prstGeom>
          <a:solidFill>
            <a:srgbClr val="C75B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eg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eyJ2aWV3Qm94IjpbNjUsNDBdLCJwb2ludHMiOiIwLDAgNjUsNDAiLCJjdXJ2ZSI6InNoYXJwIn0</pptd:line>
              </p:ext>
            </p:extLst>
          </p:nvPr>
        </p:nvSpPr>
        <p:spPr>
          <a:xfrm>
            <a:off x="10350500" y="2857500"/>
            <a:ext cx="825500" cy="508000"/>
          </a:xfrm>
          <a:custGeom>
            <a:avLst/>
            <a:gdLst/>
            <a:ahLst/>
            <a:cxnLst/>
            <a:rect l="l" t="t" r="r" b="b"/>
            <a:pathLst>
              <a:path w="65" h="40">
                <a:moveTo>
                  <a:pt x="0" y="0"/>
                </a:moveTo>
                <a:lnTo>
                  <a:pt x="65" y="40"/>
                </a:lnTo>
              </a:path>
            </a:pathLst>
          </a:custGeom>
          <a:noFill/>
          <a:ln w="1270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joint3"/>
          <p:cNvSpPr/>
          <p:nvPr/>
        </p:nvSpPr>
        <p:spPr>
          <a:xfrm>
            <a:off x="11036300" y="3225800"/>
            <a:ext cx="279400" cy="279400"/>
          </a:xfrm>
          <a:prstGeom prst="ellipse">
            <a:avLst/>
          </a:prstGeom>
          <a:solidFill>
            <a:srgbClr val="FBFAF6"/>
          </a:solidFill>
          <a:ln w="381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gripA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eyJ2aWV3Qm94IjpbMjYsNF0sInBvaW50cyI6IjAsMiAyNiwyIiwiY3VydmUiOiJzaGFycCJ9</pptd:line>
              </p:ext>
            </p:extLst>
          </p:nvPr>
        </p:nvSpPr>
        <p:spPr>
          <a:xfrm>
            <a:off x="11277600" y="3200400"/>
            <a:ext cx="330200" cy="50800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2"/>
                </a:moveTo>
                <a:lnTo>
                  <a:pt x="26" y="2"/>
                </a:lnTo>
              </a:path>
            </a:pathLst>
          </a:custGeom>
          <a:noFill/>
          <a:ln w="508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gripB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eyJ2aWV3Qm94IjpbMjYsNF0sInBvaW50cyI6IjAsMiAyNiwyIiwiY3VydmUiOiJzaGFycCJ9</pptd:line>
              </p:ext>
            </p:extLst>
          </p:nvPr>
        </p:nvSpPr>
        <p:spPr>
          <a:xfrm>
            <a:off x="11277600" y="3479800"/>
            <a:ext cx="330200" cy="50800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2"/>
                </a:moveTo>
                <a:lnTo>
                  <a:pt x="26" y="2"/>
                </a:lnTo>
              </a:path>
            </a:pathLst>
          </a:custGeom>
          <a:noFill/>
          <a:ln w="50800">
            <a:solidFill>
              <a:srgbClr val="31523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cpLabel"/>
          <p:cNvSpPr txBox="1"/>
          <p:nvPr/>
        </p:nvSpPr>
        <p:spPr>
          <a:xfrm>
            <a:off x="9398000" y="38100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末端执行器 · TCP</a:t>
            </a:r>
            <a:endParaRPr lang="en-US" sz="1100" noProof="1"/>
          </a:p>
        </p:txBody>
      </p:sp>
      <p:sp>
        <p:nvSpPr>
          <p:cNvPr id="21" name="footerNote"/>
          <p:cNvSpPr txBox="1"/>
          <p:nvPr/>
        </p:nvSpPr>
        <p:spPr>
          <a:xfrm>
            <a:off x="711200" y="6248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实验平台：Three.js / WebGL · 模型：UR5 / KUKA iiwa（URDF / GLTF）</a:t>
            </a:r>
            <a:endParaRPr lang="en-US" sz="1100" noProof="1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AB1D844-1C4A-4F99-BFAE-C5C53B2CD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010" y="5207000"/>
            <a:ext cx="1569979" cy="13685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学习路线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三个实验是一条进阶线：先让模型动起来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stage1box"/>
          <p:cNvSpPr/>
          <p:nvPr/>
        </p:nvSpPr>
        <p:spPr>
          <a:xfrm>
            <a:off x="711200" y="1651000"/>
            <a:ext cx="3302000" cy="1625600"/>
          </a:xfrm>
          <a:prstGeom prst="rect">
            <a:avLst/>
          </a:prstGeom>
          <a:solidFill>
            <a:srgbClr val="F1EDE2"/>
          </a:solidFill>
          <a:ln w="25400">
            <a:solidFill>
              <a:srgbClr val="31523F"/>
            </a:solidFill>
          </a:ln>
        </p:spPr>
      </p:sp>
      <p:sp>
        <p:nvSpPr>
          <p:cNvPr id="7" name="stage1tag"/>
          <p:cNvSpPr txBox="1"/>
          <p:nvPr/>
        </p:nvSpPr>
        <p:spPr>
          <a:xfrm>
            <a:off x="914400" y="1778000"/>
            <a:ext cx="289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C75B26"/>
                </a:solidFill>
                <a:latin typeface="MiSans"/>
                <a:ea typeface="MiSans"/>
              </a:rPr>
              <a:t>实验一 · 本实验（8 学时）</a:t>
            </a:r>
            <a:endParaRPr lang="en-US" sz="1200" noProof="1"/>
          </a:p>
        </p:txBody>
      </p:sp>
      <p:sp>
        <p:nvSpPr>
          <p:cNvPr id="8" name="stage1txt"/>
          <p:cNvSpPr txBox="1"/>
          <p:nvPr/>
        </p:nvSpPr>
        <p:spPr>
          <a:xfrm>
            <a:off x="914400" y="2057400"/>
            <a:ext cx="2895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22271F"/>
                </a:solidFill>
                <a:latin typeface="MiSans"/>
                <a:ea typeface="MiSans"/>
              </a:rPr>
              <a:t>基础：系统与示教</a:t>
            </a:r>
            <a:endParaRPr lang="en-US" sz="1250" noProof="1"/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22271F"/>
                </a:solidFill>
                <a:latin typeface="MiSans"/>
                <a:ea typeface="MiSans"/>
              </a:rPr>
              <a:t>机械臂与示教器 · 正 / 逆运动学 · 示教器交互与编程 · 轨迹与可达区域分析</a:t>
            </a:r>
          </a:p>
        </p:txBody>
      </p:sp>
      <p:sp>
        <p:nvSpPr>
          <p:cNvPr id="9" name="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eyJ2aWV3Qm94IjpbNDQsNF0sInBvaW50cyI6IjAsMiA0NCwyIiwiY3VydmUiOiJzaGFycCJ9</pptd:line>
              </p:ext>
            </p:extLst>
          </p:nvPr>
        </p:nvSpPr>
        <p:spPr>
          <a:xfrm>
            <a:off x="4114800" y="2387600"/>
            <a:ext cx="558800" cy="50800"/>
          </a:xfrm>
          <a:custGeom>
            <a:avLst/>
            <a:gdLst/>
            <a:ahLst/>
            <a:cxnLst/>
            <a:rect l="l" t="t" r="r" b="b"/>
            <a:pathLst>
              <a:path w="44" h="4">
                <a:moveTo>
                  <a:pt x="0" y="2"/>
                </a:moveTo>
                <a:lnTo>
                  <a:pt x="44" y="2"/>
                </a:lnTo>
              </a:path>
            </a:pathLst>
          </a:custGeom>
          <a:noFill/>
          <a:ln w="25400">
            <a:solidFill>
              <a:srgbClr val="7A8072"/>
            </a:solidFill>
            <a:tailEnd type="stealth"/>
          </a:ln>
        </p:spPr>
      </p:sp>
      <p:sp>
        <p:nvSpPr>
          <p:cNvPr id="10" name="stage2box"/>
          <p:cNvSpPr/>
          <p:nvPr/>
        </p:nvSpPr>
        <p:spPr>
          <a:xfrm>
            <a:off x="4775200" y="1651000"/>
            <a:ext cx="3302000" cy="1625600"/>
          </a:xfrm>
          <a:prstGeom prst="rect">
            <a:avLst/>
          </a:prstGeom>
          <a:solidFill>
            <a:srgbClr val="FBFAF6"/>
          </a:solidFill>
          <a:ln w="12700">
            <a:solidFill>
              <a:srgbClr val="DAD5C8"/>
            </a:solidFill>
          </a:ln>
        </p:spPr>
      </p:sp>
      <p:sp>
        <p:nvSpPr>
          <p:cNvPr id="11" name="stage2tag"/>
          <p:cNvSpPr txBox="1"/>
          <p:nvPr/>
        </p:nvSpPr>
        <p:spPr>
          <a:xfrm>
            <a:off x="4978400" y="1778000"/>
            <a:ext cx="289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31523F"/>
                </a:solidFill>
                <a:latin typeface="MiSans"/>
                <a:ea typeface="MiSans"/>
              </a:rPr>
              <a:t>实验二（10 学时）</a:t>
            </a:r>
            <a:endParaRPr lang="en-US" sz="1200" noProof="1"/>
          </a:p>
        </p:txBody>
      </p:sp>
      <p:sp>
        <p:nvSpPr>
          <p:cNvPr id="12" name="stage2txt"/>
          <p:cNvSpPr txBox="1"/>
          <p:nvPr/>
        </p:nvSpPr>
        <p:spPr>
          <a:xfrm>
            <a:off x="4978400" y="2057400"/>
            <a:ext cx="2895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进阶：运动与指令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逆运动学 · 轨迹插值 · 碰撞检测 · TCP / 手眼校正 · 虚拟指令集</a:t>
            </a:r>
            <a:endParaRPr lang="en-US" sz="1250" noProof="1"/>
          </a:p>
        </p:txBody>
      </p:sp>
      <p:sp>
        <p:nvSpPr>
          <p:cNvPr id="13" name="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eyJ2aWV3Qm94IjpbNDQsNF0sInBvaW50cyI6IjAsMiA0NCwyIiwiY3VydmUiOiJzaGFycCJ9</pptd:line>
              </p:ext>
            </p:extLst>
          </p:nvPr>
        </p:nvSpPr>
        <p:spPr>
          <a:xfrm>
            <a:off x="8178800" y="2387600"/>
            <a:ext cx="558800" cy="50800"/>
          </a:xfrm>
          <a:custGeom>
            <a:avLst/>
            <a:gdLst/>
            <a:ahLst/>
            <a:cxnLst/>
            <a:rect l="l" t="t" r="r" b="b"/>
            <a:pathLst>
              <a:path w="44" h="4">
                <a:moveTo>
                  <a:pt x="0" y="2"/>
                </a:moveTo>
                <a:lnTo>
                  <a:pt x="44" y="2"/>
                </a:lnTo>
              </a:path>
            </a:pathLst>
          </a:custGeom>
          <a:noFill/>
          <a:ln w="25400">
            <a:solidFill>
              <a:srgbClr val="7A8072"/>
            </a:solidFill>
            <a:tailEnd type="stealth"/>
          </a:ln>
        </p:spPr>
      </p:sp>
      <p:sp>
        <p:nvSpPr>
          <p:cNvPr id="14" name="stage3box"/>
          <p:cNvSpPr/>
          <p:nvPr/>
        </p:nvSpPr>
        <p:spPr>
          <a:xfrm>
            <a:off x="8839200" y="1651000"/>
            <a:ext cx="2641600" cy="1625600"/>
          </a:xfrm>
          <a:prstGeom prst="rect">
            <a:avLst/>
          </a:prstGeom>
          <a:solidFill>
            <a:srgbClr val="FBFAF6"/>
          </a:solidFill>
          <a:ln w="12700">
            <a:solidFill>
              <a:srgbClr val="DAD5C8"/>
            </a:solidFill>
          </a:ln>
        </p:spPr>
      </p:sp>
      <p:sp>
        <p:nvSpPr>
          <p:cNvPr id="15" name="stage3tag"/>
          <p:cNvSpPr txBox="1"/>
          <p:nvPr/>
        </p:nvSpPr>
        <p:spPr>
          <a:xfrm>
            <a:off x="9042400" y="1778000"/>
            <a:ext cx="223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31523F"/>
                </a:solidFill>
                <a:latin typeface="MiSans"/>
                <a:ea typeface="MiSans"/>
              </a:rPr>
              <a:t>实验三（10 学时）</a:t>
            </a:r>
            <a:endParaRPr lang="en-US" sz="1200" noProof="1"/>
          </a:p>
        </p:txBody>
      </p:sp>
      <p:sp>
        <p:nvSpPr>
          <p:cNvPr id="16" name="stage3txt"/>
          <p:cNvSpPr txBox="1"/>
          <p:nvPr/>
        </p:nvSpPr>
        <p:spPr>
          <a:xfrm>
            <a:off x="9042400" y="2057400"/>
            <a:ext cx="22352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综合：规划与避障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智能网关 · A* / RRT · 抓取与环绕拍摄</a:t>
            </a:r>
            <a:endParaRPr lang="en-US" sz="1250" noProof="1"/>
          </a:p>
        </p:txBody>
      </p:sp>
      <p:sp>
        <p:nvSpPr>
          <p:cNvPr id="17" name="secHead"/>
          <p:cNvSpPr txBox="1"/>
          <p:nvPr/>
        </p:nvSpPr>
        <p:spPr>
          <a:xfrm>
            <a:off x="711200" y="3632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31523F"/>
                </a:solidFill>
                <a:latin typeface="MiSans"/>
                <a:ea typeface="MiSans"/>
              </a:rPr>
              <a:t>学完本实验，你应当能够——</a:t>
            </a:r>
            <a:endParaRPr lang="en-US" sz="1600" noProof="1"/>
          </a:p>
        </p:txBody>
      </p:sp>
      <p:sp>
        <p:nvSpPr>
          <p:cNvPr id="18" name="capList"/>
          <p:cNvSpPr txBox="1"/>
          <p:nvPr/>
        </p:nvSpPr>
        <p:spPr>
          <a:xfrm>
            <a:off x="711200" y="4038600"/>
            <a:ext cx="54610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sz="1350">
                <a:solidFill>
                  <a:srgbClr val="22271F"/>
                </a:solidFill>
                <a:latin typeface="MiSans"/>
                <a:ea typeface="MiSans"/>
              </a:rPr>
              <a:t>□ 说明机械臂系统（本体 + 示教器）的组成与工作方式</a:t>
            </a:r>
            <a:endParaRPr lang="en-US" sz="1350" noProof="1"/>
          </a:p>
          <a:p>
            <a:r>
              <a:rPr sz="1350">
                <a:solidFill>
                  <a:srgbClr val="22271F"/>
                </a:solidFill>
                <a:latin typeface="MiSans"/>
                <a:ea typeface="MiSans"/>
              </a:rPr>
              <a:t>□ 解释 FK / IK 的基本问题与关节 / 笛卡尔空间的映射</a:t>
            </a:r>
          </a:p>
          <a:p>
            <a:r>
              <a:rPr sz="1350">
                <a:solidFill>
                  <a:srgbClr val="22271F"/>
                </a:solidFill>
                <a:latin typeface="MiSans"/>
                <a:ea typeface="MiSans"/>
              </a:rPr>
              <a:t>□ 在示教器界面完成交互操作与工具 / 用户坐标系标定</a:t>
            </a:r>
          </a:p>
          <a:p>
            <a:r>
              <a:rPr sz="1350">
                <a:solidFill>
                  <a:srgbClr val="22271F"/>
                </a:solidFill>
                <a:latin typeface="MiSans"/>
                <a:ea typeface="MiSans"/>
              </a:rPr>
              <a:t>□ 用 MOVJ 指令编排多位姿动作程序并连续执行</a:t>
            </a:r>
          </a:p>
          <a:p>
            <a:r>
              <a:rPr sz="1350">
                <a:solidFill>
                  <a:srgbClr val="22271F"/>
                </a:solidFill>
                <a:latin typeface="MiSans"/>
                <a:ea typeface="MiSans"/>
              </a:rPr>
              <a:t>□ 完成末端轨迹与可达区域的定量分析</a:t>
            </a:r>
          </a:p>
        </p:txBody>
      </p:sp>
      <p:sp>
        <p:nvSpPr>
          <p:cNvPr id="19" name="capAside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eyJ2aWV3Qm94IjpbMSwxNzJdLCJwb2ludHMiOiIwLDAgMCwxNzIiLCJjdXJ2ZSI6InNoYXJwIn0</pptd:line>
              </p:ext>
            </p:extLst>
          </p:nvPr>
        </p:nvSpPr>
        <p:spPr>
          <a:xfrm>
            <a:off x="6553200" y="4038600"/>
            <a:ext cx="12700" cy="2184400"/>
          </a:xfrm>
          <a:custGeom>
            <a:avLst/>
            <a:gdLst/>
            <a:ahLst/>
            <a:cxnLst/>
            <a:rect l="l" t="t" r="r" b="b"/>
            <a:pathLst>
              <a:path w="1" h="172">
                <a:moveTo>
                  <a:pt x="0" y="0"/>
                </a:moveTo>
                <a:lnTo>
                  <a:pt x="0" y="172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20" name="capAside"/>
          <p:cNvSpPr txBox="1"/>
          <p:nvPr/>
        </p:nvSpPr>
        <p:spPr>
          <a:xfrm>
            <a:off x="6858000" y="4038600"/>
            <a:ext cx="46228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为什么从它开始？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模型导入与关节控制覆盖 WebGL 环境搭建、场景树管理与正向运动学等图形学核心概念，是后续运动解算与路径规划的前提，在工业机器人仿真、数字孪生等领域有直接应用。</a:t>
            </a:r>
            <a:endParaRPr lang="en-US" sz="1250" noProof="1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参考：实验项目规划信息 · 实验 1 选定原则</a:t>
            </a:r>
            <a:endParaRPr lang="en-US" sz="1250" noProof="1"/>
          </a:p>
        </p:txBody>
      </p:sp>
      <p:sp>
        <p:nvSpPr>
          <p:cNvPr id="21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2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02 / 27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背景与动机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为什么先在浏览器里造一台"虚拟机械臂"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leftHead"/>
          <p:cNvSpPr txBox="1"/>
          <p:nvPr/>
        </p:nvSpPr>
        <p:spPr>
          <a:xfrm>
            <a:off x="711200" y="14986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仿真的工程价值</a:t>
            </a:r>
            <a:endParaRPr lang="en-US" sz="1500" noProof="1"/>
          </a:p>
        </p:txBody>
      </p:sp>
      <p:sp>
        <p:nvSpPr>
          <p:cNvPr id="7" name="leftBody"/>
          <p:cNvSpPr txBox="1"/>
          <p:nvPr/>
        </p:nvSpPr>
        <p:spPr>
          <a:xfrm>
            <a:off x="711200" y="1854200"/>
            <a:ext cx="5461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零风险试错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：奇异位形、超限、碰撞在真机上意味着停机甚至事故，在浏览器里只是一次刷新。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算法先行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：运动学、插值、路径规划全部可在仿真中验证后再部署到真机——这正是工业机器人离线编程（OLP）的标准流程。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人人可及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：Three.js/WebGL 免安装、跨平台，一台能开浏览器的电脑就是实验室。</a:t>
            </a:r>
            <a:endParaRPr lang="en-US" sz="1300" noProof="1"/>
          </a:p>
        </p:txBody>
      </p:sp>
      <p:sp>
        <p:nvSpPr>
          <p:cNvPr id="8" name="leftApps"/>
          <p:cNvSpPr txBox="1"/>
          <p:nvPr/>
        </p:nvSpPr>
        <p:spPr>
          <a:xfrm>
            <a:off x="711200" y="4673600"/>
            <a:ext cx="5461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直接应用场景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数字孪生：虚拟产线与真实产线同步运行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机器人离线编程与节拍评估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教学与培训：示教编程范式的低成本演练</a:t>
            </a:r>
            <a:endParaRPr lang="en-US" sz="1250" noProof="1"/>
          </a:p>
        </p:txBody>
      </p:sp>
      <p:sp>
        <p:nvSpPr>
          <p:cNvPr id="9" name="stack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eyJ2aWV3Qm94IjpbMSwzNzJdLCJwb2ludHMiOiIwLDAgMCwzNzIiLCJjdXJ2ZSI6InNoYXJwIn0</pptd:line>
              </p:ext>
            </p:extLst>
          </p:nvPr>
        </p:nvSpPr>
        <p:spPr>
          <a:xfrm>
            <a:off x="6502400" y="1498600"/>
            <a:ext cx="12700" cy="4724400"/>
          </a:xfrm>
          <a:custGeom>
            <a:avLst/>
            <a:gdLst/>
            <a:ahLst/>
            <a:cxnLst/>
            <a:rect l="l" t="t" r="r" b="b"/>
            <a:pathLst>
              <a:path w="1" h="372">
                <a:moveTo>
                  <a:pt x="0" y="0"/>
                </a:moveTo>
                <a:lnTo>
                  <a:pt x="0" y="372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0" name="rightHead"/>
          <p:cNvSpPr txBox="1"/>
          <p:nvPr/>
        </p:nvSpPr>
        <p:spPr>
          <a:xfrm>
            <a:off x="6807200" y="14986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一个机械臂操作系统的"解剖"</a:t>
            </a:r>
            <a:endParaRPr lang="en-US" sz="1500" noProof="1"/>
          </a:p>
        </p:txBody>
      </p:sp>
      <p:sp>
        <p:nvSpPr>
          <p:cNvPr id="11" name="stack1"/>
          <p:cNvSpPr/>
          <p:nvPr/>
        </p:nvSpPr>
        <p:spPr>
          <a:xfrm>
            <a:off x="6807200" y="1905000"/>
            <a:ext cx="4673600" cy="7366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2" name="stack1txt"/>
          <p:cNvSpPr txBox="1"/>
          <p:nvPr/>
        </p:nvSpPr>
        <p:spPr>
          <a:xfrm>
            <a:off x="7010400" y="2006600"/>
            <a:ext cx="426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感知 Perception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：相机、力矩传感器 → 场景状态</a:t>
            </a:r>
            <a:endParaRPr lang="en-US" sz="1250" noProof="1"/>
          </a:p>
        </p:txBody>
      </p:sp>
      <p:sp>
        <p:nvSpPr>
          <p:cNvPr id="13" name="stack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eyJ2aWV3Qm94IjpbNCwyMF0sInBvaW50cyI6IjIsMCAyLDIwIiwiY3VydmUiOiJzaGFycCJ9</pptd:line>
              </p:ext>
            </p:extLst>
          </p:nvPr>
        </p:nvSpPr>
        <p:spPr>
          <a:xfrm>
            <a:off x="9118600" y="269240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4" h="20">
                <a:moveTo>
                  <a:pt x="2" y="0"/>
                </a:moveTo>
                <a:lnTo>
                  <a:pt x="2" y="20"/>
                </a:lnTo>
              </a:path>
            </a:pathLst>
          </a:custGeom>
          <a:noFill/>
          <a:ln w="19050">
            <a:solidFill>
              <a:srgbClr val="7A8072"/>
            </a:solidFill>
            <a:tailEnd type="stealth"/>
          </a:ln>
        </p:spPr>
      </p:sp>
      <p:sp>
        <p:nvSpPr>
          <p:cNvPr id="14" name="stack2"/>
          <p:cNvSpPr/>
          <p:nvPr/>
        </p:nvSpPr>
        <p:spPr>
          <a:xfrm>
            <a:off x="6807200" y="2997200"/>
            <a:ext cx="4673600" cy="7366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5" name="stack2txt"/>
          <p:cNvSpPr txBox="1"/>
          <p:nvPr/>
        </p:nvSpPr>
        <p:spPr>
          <a:xfrm>
            <a:off x="7010400" y="3098800"/>
            <a:ext cx="426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规划 Planning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：运动学、轨迹、避障 → 关节指令</a:t>
            </a:r>
            <a:endParaRPr lang="en-US" sz="1250" noProof="1"/>
          </a:p>
        </p:txBody>
      </p:sp>
      <p:sp>
        <p:nvSpPr>
          <p:cNvPr id="16" name="stack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eyJ2aWV3Qm94IjpbNCwyMF0sInBvaW50cyI6IjIsMCAyLDIwIiwiY3VydmUiOiJzaGFycCJ9</pptd:line>
              </p:ext>
            </p:extLst>
          </p:nvPr>
        </p:nvSpPr>
        <p:spPr>
          <a:xfrm>
            <a:off x="9118600" y="378460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4" h="20">
                <a:moveTo>
                  <a:pt x="2" y="0"/>
                </a:moveTo>
                <a:lnTo>
                  <a:pt x="2" y="20"/>
                </a:lnTo>
              </a:path>
            </a:pathLst>
          </a:custGeom>
          <a:noFill/>
          <a:ln w="19050">
            <a:solidFill>
              <a:srgbClr val="7A8072"/>
            </a:solidFill>
            <a:tailEnd type="stealth"/>
          </a:ln>
        </p:spPr>
      </p:sp>
      <p:sp>
        <p:nvSpPr>
          <p:cNvPr id="17" name="stack3"/>
          <p:cNvSpPr/>
          <p:nvPr/>
        </p:nvSpPr>
        <p:spPr>
          <a:xfrm>
            <a:off x="6807200" y="4089400"/>
            <a:ext cx="4673600" cy="7366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8" name="stack3txt"/>
          <p:cNvSpPr txBox="1"/>
          <p:nvPr/>
        </p:nvSpPr>
        <p:spPr>
          <a:xfrm>
            <a:off x="7010400" y="4191000"/>
            <a:ext cx="426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控制 Control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：伺服回路 → 关节力矩 / 角度</a:t>
            </a:r>
            <a:endParaRPr lang="en-US" sz="1250" noProof="1"/>
          </a:p>
        </p:txBody>
      </p:sp>
      <p:sp>
        <p:nvSpPr>
          <p:cNvPr id="19" name="stackArrow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eyJ2aWV3Qm94IjpbNCwyMF0sInBvaW50cyI6IjIsMCAyLDIwIiwiY3VydmUiOiJzaGFycCJ9</pptd:line>
              </p:ext>
            </p:extLst>
          </p:nvPr>
        </p:nvSpPr>
        <p:spPr>
          <a:xfrm>
            <a:off x="9118600" y="487680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4" h="20">
                <a:moveTo>
                  <a:pt x="2" y="0"/>
                </a:moveTo>
                <a:lnTo>
                  <a:pt x="2" y="20"/>
                </a:lnTo>
              </a:path>
            </a:pathLst>
          </a:custGeom>
          <a:noFill/>
          <a:ln w="19050">
            <a:solidFill>
              <a:srgbClr val="7A8072"/>
            </a:solidFill>
            <a:tailEnd type="stealth"/>
          </a:ln>
        </p:spPr>
      </p:sp>
      <p:sp>
        <p:nvSpPr>
          <p:cNvPr id="20" name="stack4"/>
          <p:cNvSpPr/>
          <p:nvPr/>
        </p:nvSpPr>
        <p:spPr>
          <a:xfrm>
            <a:off x="6807200" y="5181600"/>
            <a:ext cx="4673600" cy="736600"/>
          </a:xfrm>
          <a:prstGeom prst="rect">
            <a:avLst/>
          </a:prstGeom>
          <a:solidFill>
            <a:srgbClr val="F1EDE2"/>
          </a:solidFill>
          <a:ln w="19050">
            <a:solidFill>
              <a:srgbClr val="C75B26"/>
            </a:solidFill>
          </a:ln>
        </p:spPr>
      </p:sp>
      <p:sp>
        <p:nvSpPr>
          <p:cNvPr id="21" name="stack4txt"/>
          <p:cNvSpPr txBox="1"/>
          <p:nvPr/>
        </p:nvSpPr>
        <p:spPr>
          <a:xfrm>
            <a:off x="7010400" y="5283200"/>
            <a:ext cx="426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本实验位置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：搭建虚拟的"机械臂本体 + 示教器"，为上面三层提供实验对象。</a:t>
            </a:r>
            <a:endParaRPr lang="en-US" sz="1250" noProof="1"/>
          </a:p>
        </p:txBody>
      </p:sp>
      <p:sp>
        <p:nvSpPr>
          <p:cNvPr id="22" name="srcNote"/>
          <p:cNvSpPr txBox="1"/>
          <p:nvPr/>
        </p:nvSpPr>
        <p:spPr>
          <a:xfrm>
            <a:off x="6807200" y="6045200"/>
            <a:ext cx="467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参考：MIT 6.4210 Robotic Manipulation, Lecture 1</a:t>
            </a:r>
            <a:endParaRPr lang="en-US" sz="1050" noProof="1"/>
          </a:p>
        </p:txBody>
      </p:sp>
      <p:sp>
        <p:nvSpPr>
          <p:cNvPr id="23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4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03 / 27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8489E2-BE65-45AE-B8CF-FA66D7D91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136"/>
            <a:ext cx="12192000" cy="44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3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3" name="pageTopic"/>
          <p:cNvSpPr txBox="1"/>
          <p:nvPr/>
        </p:nvSpPr>
        <p:spPr>
          <a:xfrm>
            <a:off x="7114032" y="384048"/>
            <a:ext cx="437083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原理介绍 · 机械臂介绍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22271F"/>
                </a:solidFill>
                <a:latin typeface="MiSans"/>
                <a:ea typeface="MiSans"/>
              </a:rPr>
              <a:t>机械臂系统组成：机械臂本体 + 示教器</a:t>
            </a:r>
          </a:p>
        </p:txBody>
      </p:sp>
      <p:sp>
        <p:nvSpPr>
          <p:cNvPr id="5" name="rule"/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mHead"/>
          <p:cNvSpPr txBox="1"/>
          <p:nvPr/>
        </p:nvSpPr>
        <p:spPr>
          <a:xfrm>
            <a:off x="713232" y="1472184"/>
            <a:ext cx="5458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机械臂本体 Manipulator</a:t>
            </a:r>
          </a:p>
        </p:txBody>
      </p:sp>
      <p:pic>
        <p:nvPicPr>
          <p:cNvPr id="7" name="armImg" descr="arm_split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10512"/>
            <a:ext cx="2997926" cy="2331720"/>
          </a:xfrm>
          <a:prstGeom prst="rect">
            <a:avLst/>
          </a:prstGeom>
        </p:spPr>
      </p:pic>
      <p:sp>
        <p:nvSpPr>
          <p:cNvPr id="8" name="armBody"/>
          <p:cNvSpPr txBox="1"/>
          <p:nvPr/>
        </p:nvSpPr>
        <p:spPr>
          <a:xfrm>
            <a:off x="713232" y="4297680"/>
            <a:ext cx="5458968" cy="2011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基座 Base：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固定本体，J1 腰关节带动全臂回转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大臂 / 小臂：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J2、J3 俯仰摆动，决定末端能到“哪里”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腕部 Wrist：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J4–J6 三个回转关节，决定末端工具“朝向”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末端执行器 · TCP：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夹爪 / 焊枪 / 吸盘等，作业的最终落点</a:t>
            </a:r>
          </a:p>
        </p:txBody>
      </p:sp>
      <p:sp>
        <p:nvSpPr>
          <p:cNvPr id="9" name="armNote"/>
          <p:cNvSpPr txBox="1"/>
          <p:nvPr/>
        </p:nvSpPr>
        <p:spPr>
          <a:xfrm>
            <a:off x="713232" y="6144768"/>
            <a:ext cx="545896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7A8072"/>
                </a:solidFill>
                <a:latin typeface="MiSans"/>
                <a:ea typeface="MiSans"/>
              </a:rPr>
              <a:t>图：实验用关节化模型的六个连杆（按连杆分色）</a:t>
            </a:r>
          </a:p>
        </p:txBody>
      </p:sp>
      <p:sp>
        <p:nvSpPr>
          <p:cNvPr id="10" name="midRule"/>
          <p:cNvSpPr/>
          <p:nvPr/>
        </p:nvSpPr>
        <p:spPr>
          <a:xfrm>
            <a:off x="6501384" y="1472184"/>
            <a:ext cx="10058" cy="4745736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pHead"/>
          <p:cNvSpPr txBox="1"/>
          <p:nvPr/>
        </p:nvSpPr>
        <p:spPr>
          <a:xfrm>
            <a:off x="6803136" y="1472184"/>
            <a:ext cx="467258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示教器 Teach Pendant</a:t>
            </a:r>
          </a:p>
        </p:txBody>
      </p:sp>
      <p:pic>
        <p:nvPicPr>
          <p:cNvPr id="12" name="tpIm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1828800"/>
            <a:ext cx="2202915" cy="1920240"/>
          </a:xfrm>
          <a:prstGeom prst="rect">
            <a:avLst/>
          </a:prstGeom>
        </p:spPr>
      </p:pic>
      <p:sp>
        <p:nvSpPr>
          <p:cNvPr id="13" name="tpCap"/>
          <p:cNvSpPr txBox="1"/>
          <p:nvPr/>
        </p:nvSpPr>
        <p:spPr>
          <a:xfrm>
            <a:off x="9281160" y="1828800"/>
            <a:ext cx="2194560" cy="1920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22271F"/>
                </a:solidFill>
                <a:latin typeface="MiSans"/>
                <a:ea typeface="MiSans"/>
              </a:rPr>
              <a:t>EFORT 工业示教器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7A8072"/>
                </a:solidFill>
                <a:latin typeface="MiSans"/>
                <a:ea typeface="MiSans"/>
              </a:rPr>
              <a:t>触屏 + 按键 + 急停（右上红色）+ 三位使能开关，是人与机器人对话的终端。</a:t>
            </a:r>
          </a:p>
        </p:txBody>
      </p:sp>
      <p:sp>
        <p:nvSpPr>
          <p:cNvPr id="14" name="tpBody"/>
          <p:cNvSpPr txBox="1"/>
          <p:nvPr/>
        </p:nvSpPr>
        <p:spPr>
          <a:xfrm>
            <a:off x="6803136" y="3931920"/>
            <a:ext cx="4672584" cy="2103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点动 Jog：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在关节 / 笛卡尔坐标下微动，粗调姿态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示教编程：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记录 pose 位姿，编排 MOVJ / MOVL 程序并执行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坐标系管理：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标定工具坐标系（TCP）与用户坐标系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安全三件套：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急停、使能开关、速度倍率</a:t>
            </a:r>
          </a:p>
        </p:txBody>
      </p:sp>
      <p:sp>
        <p:nvSpPr>
          <p:cNvPr id="15" name="srcNote"/>
          <p:cNvSpPr txBox="1"/>
          <p:nvPr/>
        </p:nvSpPr>
        <p:spPr>
          <a:xfrm>
            <a:off x="6803136" y="6144768"/>
            <a:ext cx="4672584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7A8072"/>
                </a:solidFill>
                <a:latin typeface="MiSans"/>
                <a:ea typeface="MiSans"/>
              </a:rPr>
              <a:t>本实验即在浏览器中复刻这套“本体 + 示教器”最小系统</a:t>
            </a:r>
          </a:p>
        </p:txBody>
      </p:sp>
      <p:sp>
        <p:nvSpPr>
          <p:cNvPr id="16" name="footerL"/>
          <p:cNvSpPr txBox="1"/>
          <p:nvPr/>
        </p:nvSpPr>
        <p:spPr>
          <a:xfrm>
            <a:off x="713232" y="6528816"/>
            <a:ext cx="5084064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</a:p>
        </p:txBody>
      </p:sp>
      <p:sp>
        <p:nvSpPr>
          <p:cNvPr id="17" name="footerR"/>
          <p:cNvSpPr txBox="1"/>
          <p:nvPr/>
        </p:nvSpPr>
        <p:spPr>
          <a:xfrm>
            <a:off x="10213848" y="6528816"/>
            <a:ext cx="1271016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A8072"/>
                </a:solidFill>
                <a:latin typeface="MiSans"/>
                <a:ea typeface="MiSans"/>
              </a:rPr>
              <a:t>04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机构学基础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认识机械臂：关节、自由度与常见构型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jHead"/>
          <p:cNvSpPr txBox="1"/>
          <p:nvPr/>
        </p:nvSpPr>
        <p:spPr>
          <a:xfrm>
            <a:off x="711200" y="1473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两种基本关节（运动副）</a:t>
            </a:r>
            <a:endParaRPr lang="en-US" sz="1500" noProof="1"/>
          </a:p>
        </p:txBody>
      </p:sp>
      <p:sp>
        <p:nvSpPr>
          <p:cNvPr id="7" name="j1box"/>
          <p:cNvSpPr/>
          <p:nvPr/>
        </p:nvSpPr>
        <p:spPr>
          <a:xfrm>
            <a:off x="711200" y="1828800"/>
            <a:ext cx="2641600" cy="15240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8" name="j1txt"/>
          <p:cNvSpPr txBox="1"/>
          <p:nvPr/>
        </p:nvSpPr>
        <p:spPr>
          <a:xfrm>
            <a:off x="889000" y="19558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转动关节 Revolute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两连杆绕固定轴相对旋转，又称铰链关节。工业臂与人类手臂的主力关节。</a:t>
            </a:r>
            <a:endParaRPr lang="en-US" sz="1250" noProof="1"/>
          </a:p>
        </p:txBody>
      </p:sp>
      <p:sp>
        <p:nvSpPr>
          <p:cNvPr id="9" name="j2box"/>
          <p:cNvSpPr/>
          <p:nvPr/>
        </p:nvSpPr>
        <p:spPr>
          <a:xfrm>
            <a:off x="3556000" y="1828800"/>
            <a:ext cx="2641600" cy="15240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0" name="j2txt"/>
          <p:cNvSpPr txBox="1"/>
          <p:nvPr/>
        </p:nvSpPr>
        <p:spPr>
          <a:xfrm>
            <a:off x="3733800" y="19558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平移关节 Prismatic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两连杆沿固定轴相对滑动。常见于直角坐标机器人与升降机构。</a:t>
            </a:r>
            <a:endParaRPr lang="en-US" sz="1250" noProof="1"/>
          </a:p>
        </p:txBody>
      </p:sp>
      <p:sp>
        <p:nvSpPr>
          <p:cNvPr id="11" name="dofNote"/>
          <p:cNvSpPr txBox="1"/>
          <p:nvPr/>
        </p:nvSpPr>
        <p:spPr>
          <a:xfrm>
            <a:off x="711200" y="3505200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自由度（DOF）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＝确定机构位形所需的独立关节变量数。每个基本关节贡献 1 个自由度；本实验的 UR5 / iiwa 均为 6~7 自由度串联臂。</a:t>
            </a:r>
            <a:endParaRPr lang="en-US" sz="1250" noProof="1"/>
          </a:p>
        </p:txBody>
      </p:sp>
      <p:sp>
        <p:nvSpPr>
          <p:cNvPr id="12" name="bioNote"/>
          <p:cNvSpPr txBox="1"/>
          <p:nvPr/>
        </p:nvSpPr>
        <p:spPr>
          <a:xfrm>
            <a:off x="711200" y="4368800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有趣的事实：所有生物的骨骼关节都是转动型的——自然界不存在平移关节（Asada, Ch.3）。这也是"机械臂像手臂"的根本原因。</a:t>
            </a:r>
            <a:endParaRPr lang="en-US" sz="1250" noProof="1"/>
          </a:p>
        </p:txBody>
      </p:sp>
      <p:sp>
        <p:nvSpPr>
          <p:cNvPr id="13" name="cfg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5024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4" name="cfgHead"/>
          <p:cNvSpPr txBox="1"/>
          <p:nvPr/>
        </p:nvSpPr>
        <p:spPr>
          <a:xfrm>
            <a:off x="6807200" y="14732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五种经典机械臂构型</a:t>
            </a:r>
            <a:endParaRPr lang="en-US" sz="1500" noProof="1"/>
          </a:p>
        </p:txBody>
      </p:sp>
      <p:graphicFrame>
        <p:nvGraphicFramePr>
          <p:cNvPr id="15" name="cfgTable"/>
          <p:cNvGraphicFramePr>
            <a:graphicFrameLocks noGrp="1"/>
          </p:cNvGraphicFramePr>
          <p:nvPr/>
        </p:nvGraphicFramePr>
        <p:xfrm>
          <a:off x="6807200" y="1828800"/>
          <a:ext cx="4673600" cy="3175000"/>
        </p:xfrm>
        <a:graphic>
          <a:graphicData uri="http://schemas.openxmlformats.org/drawingml/2006/table">
            <a:tbl>
              <a:tblPr/>
              <a:tblGrid>
                <a:gridCol w="1589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构型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关节组合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特点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直角坐标型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P P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精度高、工作空间为长方体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圆柱坐标型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 P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绕立柱旋转 + 径向伸缩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球坐标型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 R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球面工作空间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SCARA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 R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平面内快、Z 向刚，适合装配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关节型（本实验）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 R R…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最灵活，工作空间近似球壳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cfgNote"/>
          <p:cNvSpPr txBox="1"/>
          <p:nvPr/>
        </p:nvSpPr>
        <p:spPr>
          <a:xfrm>
            <a:off x="6807200" y="5156200"/>
            <a:ext cx="4673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R = 转动关节，P = 平移关节。关节型臂（articulated / elbow robot）三个主关节全为转动副，像人的肩—肘—腕，能以最小占地获得最大可达空间。</a:t>
            </a:r>
            <a:endParaRPr lang="en-US" sz="1250" noProof="1"/>
          </a:p>
        </p:txBody>
      </p:sp>
      <p:sp>
        <p:nvSpPr>
          <p:cNvPr id="17" name="srcNote"/>
          <p:cNvSpPr txBox="1"/>
          <p:nvPr/>
        </p:nvSpPr>
        <p:spPr>
          <a:xfrm>
            <a:off x="6807200" y="6045200"/>
            <a:ext cx="467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参考：H. Asada《Introduction to Robotics》Chapter 3</a:t>
            </a:r>
            <a:endParaRPr lang="en-US" sz="1050" noProof="1"/>
          </a:p>
        </p:txBody>
      </p:sp>
      <p:sp>
        <p:nvSpPr>
          <p:cNvPr id="18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9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05 / 27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坐标系与变换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位姿的数学语言：旋转表示与齐次变换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rotHead"/>
          <p:cNvSpPr txBox="1"/>
          <p:nvPr/>
        </p:nvSpPr>
        <p:spPr>
          <a:xfrm>
            <a:off x="711200" y="14732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旋转的四种表示，各司其职</a:t>
            </a:r>
            <a:endParaRPr lang="en-US" sz="1500" noProof="1"/>
          </a:p>
        </p:txBody>
      </p:sp>
      <p:graphicFrame>
        <p:nvGraphicFramePr>
          <p:cNvPr id="7" name="rotTable"/>
          <p:cNvGraphicFramePr>
            <a:graphicFrameLocks noGrp="1"/>
          </p:cNvGraphicFramePr>
          <p:nvPr/>
        </p:nvGraphicFramePr>
        <p:xfrm>
          <a:off x="711200" y="1828800"/>
          <a:ext cx="5588000" cy="2413000"/>
        </p:xfrm>
        <a:graphic>
          <a:graphicData uri="http://schemas.openxmlformats.org/drawingml/2006/table">
            <a:tbl>
              <a:tblPr/>
              <a:tblGrid>
                <a:gridCol w="156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表示法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优点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风险 / 用途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旋转矩阵 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直接参与矩阵运算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9 个数存 3 个自由度，计算主力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RPY 欧拉角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直观、人机界面友好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存在万向节锁，插值不平滑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轴角 Axis-angle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几何意义清晰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标定与误差分析常用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四元数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无奇点、适合插值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不直观；存储 / 网络传输首选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imbal"/>
          <p:cNvSpPr txBox="1"/>
          <p:nvPr/>
        </p:nvSpPr>
        <p:spPr>
          <a:xfrm>
            <a:off x="711200" y="4419600"/>
            <a:ext cx="5588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万向节锁（Gimbal Lock）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当欧拉角中间轴转到 ±90°，第一轴与第三轴共线，系统瞬时丢失一个旋转自由度——云台"打结"就是这种现象。结论：示教器界面可以用 RPY 显示，内部计算与插值必须用矩阵或四元数。</a:t>
            </a:r>
            <a:endParaRPr lang="en-US" sz="1250" noProof="1"/>
          </a:p>
        </p:txBody>
      </p:sp>
      <p:sp>
        <p:nvSpPr>
          <p:cNvPr id="9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604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0" name="tfHead"/>
          <p:cNvSpPr txBox="1"/>
          <p:nvPr/>
        </p:nvSpPr>
        <p:spPr>
          <a:xfrm>
            <a:off x="6908800" y="14732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齐次变换矩阵：位置 + 姿态一体化</a:t>
            </a:r>
            <a:endParaRPr lang="en-US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fFormula"/>
              <p:cNvSpPr txBox="1"/>
              <p:nvPr/>
            </p:nvSpPr>
            <p:spPr>
              <a:xfrm>
                <a:off x="6908800" y="185420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80000"/>
                  </a:lnSpc>
                </a:pPr>
                <a14:m>
                  <m:oMath xmlns:m="http://schemas.openxmlformats.org/officeDocument/2006/math">
                    <m:r>
                      <a:rPr lang="en-US" sz="14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noProof="1">
                                <a:solidFill>
                                  <a:srgbClr val="22271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400" i="1" noProof="1">
                                  <a:solidFill>
                                    <a:srgbClr val="22271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sz="1400" i="1" noProof="1">
                                  <a:solidFill>
                                    <a:srgbClr val="2227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0" noProof="1">
                                  <a:solidFill>
                                    <a:srgbClr val="22271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0" noProof="1">
                                  <a:solidFill>
                                    <a:srgbClr val="22271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en-US" sz="1400" noProof="1"/>
                  <a:t> </a:t>
                </a:r>
              </a:p>
              <a:p>
                <a:pPr>
                  <a:lnSpc>
                    <a:spcPct val="180000"/>
                  </a:lnSpc>
                  <a:spcBef>
                    <a:spcPts val="400"/>
                  </a:spcBef>
                </a:pP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R ∈ SO(3) 为 3×3 旋转矩阵，p ∈ ℝ³ 为平移向量。T 同时回答"朝向哪、在哪里"。</a:t>
                </a:r>
                <a:endParaRPr lang="en-US" sz="14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1" name="tfFormula"/>
              <p:cNvSpPr txBox="1"/>
              <p:nvPr/>
            </p:nvSpPr>
            <p:spPr>
              <a:xfrm>
                <a:off x="6908800" y="185420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80000"/>
                  </a:lnSpc>
                </a:pPr>
                <a:r>
                  <a:rPr lang="en-US" sz="1400" noProof="1">
                    <a:solidFill>
                      <a:srgbClr val="22271F"/>
                    </a:solidFill>
                    <a:latin typeface="MiSans"/>
                    <a:ea typeface="MiSans"/>
                  </a:rPr>
                  <a:t>\(T=\begin{bmatrix} R &amp; p \\ 0 &amp; 1 \end{bmatrix}\in SE(3)\)</a:t>
                </a:r>
                <a:endParaRPr lang="en-US" sz="1400" noProof="1"/>
              </a:p>
              <a:p>
                <a:pPr>
                  <a:lnSpc>
                    <a:spcPct val="180000"/>
                  </a:lnSpc>
                  <a:spcBef>
                    <a:spcPts val="400"/>
                  </a:spcBef>
                </a:pP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R ∈ SO(3) 为 3×3 旋转矩阵，p ∈ ℝ³ 为平移向量。T 同时回答"朝向哪、在哪里"。</a:t>
                </a:r>
                <a:endParaRPr lang="en-US" sz="1400" noProof="1"/>
              </a:p>
            </p:txBody>
          </p:sp>
        </mc:Fallback>
      </mc:AlternateContent>
      <p:sp>
        <p:nvSpPr>
          <p:cNvPr id="12" name="chainHead"/>
          <p:cNvSpPr txBox="1"/>
          <p:nvPr/>
        </p:nvSpPr>
        <p:spPr>
          <a:xfrm>
            <a:off x="6908800" y="32258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变换链：从基座到末端</a:t>
            </a:r>
            <a:endParaRPr lang="en-US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hainFormula"/>
              <p:cNvSpPr txBox="1"/>
              <p:nvPr/>
            </p:nvSpPr>
            <p:spPr>
              <a:xfrm>
                <a:off x="6908800" y="3479800"/>
                <a:ext cx="4572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p>
                      <m:sSup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  <a:p>
                <a:pPr>
                  <a:lnSpc>
                    <a:spcPct val="170000"/>
                  </a:lnSpc>
                  <a:spcBef>
                    <a:spcPts val="400"/>
                  </a:spcBef>
                </a:pP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左乘顺序：从基座向末端逐级复合；逆变换按相反顺序取逆。</a:t>
                </a:r>
                <a:endParaRPr lang="en-US" sz="14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3" name="chainFormula"/>
              <p:cNvSpPr txBox="1"/>
              <p:nvPr/>
            </p:nvSpPr>
            <p:spPr>
              <a:xfrm>
                <a:off x="6908800" y="3479800"/>
                <a:ext cx="4572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70000"/>
                  </a:lnSpc>
                </a:pPr>
                <a:r>
                  <a:rPr lang="en-US" sz="1400" noProof="1">
                    <a:solidFill>
                      <a:srgbClr val="22271F"/>
                    </a:solidFill>
                    <a:latin typeface="MiSans"/>
                    <a:ea typeface="MiSans"/>
                  </a:rPr>
                  <a:t>\({}^{0}T_{n}={}^{0}T_{1}\,{}^{1}T_{2}\cdots{}^{n-1}T_{n}\)</a:t>
                </a:r>
                <a:endParaRPr lang="en-US" sz="1400" noProof="1"/>
              </a:p>
              <a:p>
                <a:pPr>
                  <a:lnSpc>
                    <a:spcPct val="170000"/>
                  </a:lnSpc>
                  <a:spcBef>
                    <a:spcPts val="400"/>
                  </a:spcBef>
                </a:pP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左乘顺序：从基座向末端逐级复合；逆变换按相反顺序取逆。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hainNote"/>
              <p:cNvSpPr txBox="1"/>
              <p:nvPr/>
            </p:nvSpPr>
            <p:spPr>
              <a:xfrm>
                <a:off x="6908800" y="4419600"/>
                <a:ext cx="4572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5000"/>
                  </a:lnSpc>
                </a:pPr>
                <a:r>
                  <a:rPr lang="en-US" sz="1250" b="1" noProof="1">
                    <a:solidFill>
                      <a:srgbClr val="22271F"/>
                    </a:solidFill>
                    <a:latin typeface="MiSans"/>
                    <a:ea typeface="MiSans"/>
                  </a:rPr>
                  <a:t>记号约定</a:t>
                </a: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sSub>
                      <m:sSubPr>
                        <m:ctrlP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 表示点 B 在坐标系 A 中的坐标；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sSub>
                      <m:sSubPr>
                        <m:ctrlP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 表示 B 系相对 A 系的位姿。</a:t>
                </a:r>
                <a:endParaRPr lang="en-US" sz="1250" noProof="1"/>
              </a:p>
              <a:p>
                <a:pPr>
                  <a:lnSpc>
                    <a:spcPct val="165000"/>
                  </a:lnSpc>
                  <a:spcBef>
                    <a:spcPts val="600"/>
                  </a:spcBef>
                </a:pP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写代码前先写清每个量的上下标，90% 的"位姿算错"源于坐标系没对齐。</a:t>
                </a:r>
                <a:endParaRPr lang="en-US" sz="1250" noProof="1"/>
              </a:p>
            </p:txBody>
          </p:sp>
        </mc:Choice>
        <mc:Fallback xmlns="">
          <p:sp>
            <p:nvSpPr>
              <p:cNvPr id="14" name="chain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0" y="4419600"/>
                <a:ext cx="4572000" cy="1651000"/>
              </a:xfrm>
              <a:prstGeom prst="rect">
                <a:avLst/>
              </a:prstGeom>
              <a:blipFill>
                <a:blip r:embed="rId3"/>
                <a:stretch>
                  <a:fillRect l="-2133" r="-8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7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06 / 27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坐标系与变换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归一化关节坐标系：平移 → 定轴 → 关节角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triHead"/>
          <p:cNvSpPr txBox="1"/>
          <p:nvPr/>
        </p:nvSpPr>
        <p:spPr>
          <a:xfrm>
            <a:off x="711200" y="14732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每个关节节点的三级分解</a:t>
            </a:r>
            <a:endParaRPr lang="en-US" sz="1500" noProof="1"/>
          </a:p>
        </p:txBody>
      </p:sp>
      <p:sp>
        <p:nvSpPr>
          <p:cNvPr id="7" name="tri1"/>
          <p:cNvSpPr/>
          <p:nvPr/>
        </p:nvSpPr>
        <p:spPr>
          <a:xfrm>
            <a:off x="711200" y="1879600"/>
            <a:ext cx="1625600" cy="14986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8" name="tri1txt"/>
          <p:cNvSpPr txBox="1"/>
          <p:nvPr/>
        </p:nvSpPr>
        <p:spPr>
          <a:xfrm>
            <a:off x="812800" y="1981200"/>
            <a:ext cx="1422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22271F"/>
                </a:solidFill>
                <a:latin typeface="MiSans"/>
                <a:ea typeface="MiSans"/>
              </a:rPr>
              <a:t>① 纯平移 t_j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枢轴在父系中的位置，加工期已烘焙为常量</a:t>
            </a:r>
            <a:endParaRPr lang="en-US" sz="1100" noProof="1"/>
          </a:p>
        </p:txBody>
      </p:sp>
      <p:sp>
        <p:nvSpPr>
          <p:cNvPr id="9" name="tri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eyJ2aWV3Qm94IjpbMjYsMTRdLCJwb2ludHMiOiIwLDcgMjYsNyIsImN1cnZlIjoic2hhcnAifQ</pptd:line>
              </p:ext>
            </p:extLst>
          </p:nvPr>
        </p:nvSpPr>
        <p:spPr>
          <a:xfrm>
            <a:off x="2413000" y="2540000"/>
            <a:ext cx="330200" cy="177800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7"/>
                </a:moveTo>
                <a:lnTo>
                  <a:pt x="26" y="7"/>
                </a:lnTo>
              </a:path>
            </a:pathLst>
          </a:custGeom>
          <a:noFill/>
          <a:ln w="19050">
            <a:solidFill>
              <a:srgbClr val="7A8072"/>
            </a:solidFill>
            <a:tailEnd type="arrow"/>
          </a:ln>
        </p:spPr>
      </p:sp>
      <p:sp>
        <p:nvSpPr>
          <p:cNvPr id="10" name="tri2"/>
          <p:cNvSpPr/>
          <p:nvPr/>
        </p:nvSpPr>
        <p:spPr>
          <a:xfrm>
            <a:off x="2819400" y="1879600"/>
            <a:ext cx="1625600" cy="14986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1" name="tri2txt"/>
          <p:cNvSpPr txBox="1"/>
          <p:nvPr/>
        </p:nvSpPr>
        <p:spPr>
          <a:xfrm>
            <a:off x="2921000" y="1981200"/>
            <a:ext cx="1422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22271F"/>
                </a:solidFill>
                <a:latin typeface="MiSans"/>
                <a:ea typeface="MiSans"/>
              </a:rPr>
              <a:t>② 定轴 R_fix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常量旋转，使局部 +Z = 运动轴方向</a:t>
            </a:r>
            <a:endParaRPr lang="en-US" sz="1100" noProof="1"/>
          </a:p>
        </p:txBody>
      </p:sp>
      <p:sp>
        <p:nvSpPr>
          <p:cNvPr id="12" name="tri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eyJ2aWV3Qm94IjpbMjYsMTRdLCJwb2ludHMiOiIwLDcgMjYsNyIsImN1cnZlIjoic2hhcnAifQ</pptd:line>
              </p:ext>
            </p:extLst>
          </p:nvPr>
        </p:nvSpPr>
        <p:spPr>
          <a:xfrm>
            <a:off x="4521200" y="2540000"/>
            <a:ext cx="330200" cy="177800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7"/>
                </a:moveTo>
                <a:lnTo>
                  <a:pt x="26" y="7"/>
                </a:lnTo>
              </a:path>
            </a:pathLst>
          </a:custGeom>
          <a:noFill/>
          <a:ln w="19050">
            <a:solidFill>
              <a:srgbClr val="7A8072"/>
            </a:solidFill>
            <a:tailEnd type="arrow"/>
          </a:ln>
        </p:spPr>
      </p:sp>
      <p:sp>
        <p:nvSpPr>
          <p:cNvPr id="13" name="tri3"/>
          <p:cNvSpPr/>
          <p:nvPr/>
        </p:nvSpPr>
        <p:spPr>
          <a:xfrm>
            <a:off x="4927600" y="1879600"/>
            <a:ext cx="1625600" cy="1498600"/>
          </a:xfrm>
          <a:prstGeom prst="rect">
            <a:avLst/>
          </a:prstGeom>
          <a:solidFill>
            <a:srgbClr val="F1EDE2"/>
          </a:solidFill>
          <a:ln w="25400">
            <a:solidFill>
              <a:srgbClr val="C75B26"/>
            </a:solidFill>
          </a:ln>
        </p:spPr>
      </p:sp>
      <p:sp>
        <p:nvSpPr>
          <p:cNvPr id="14" name="tri3txt"/>
          <p:cNvSpPr txBox="1"/>
          <p:nvPr/>
        </p:nvSpPr>
        <p:spPr>
          <a:xfrm>
            <a:off x="5029200" y="1981200"/>
            <a:ext cx="1422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22271F"/>
                </a:solidFill>
                <a:latin typeface="MiSans"/>
                <a:ea typeface="MiSans"/>
              </a:rPr>
              <a:t>③ 关节角 Z(θ_j)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绕局部 +Z 右手定则，是唯一变量</a:t>
            </a:r>
            <a:endParaRPr lang="en-US" sz="1100" noProof="1"/>
          </a:p>
        </p:txBody>
      </p:sp>
      <p:sp>
        <p:nvSpPr>
          <p:cNvPr id="15" name="fkHead"/>
          <p:cNvSpPr txBox="1"/>
          <p:nvPr/>
        </p:nvSpPr>
        <p:spPr>
          <a:xfrm>
            <a:off x="711200" y="36830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FK 递推：与场景树 matrixWorld 同构</a:t>
            </a:r>
            <a:endParaRPr lang="en-US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fkFormula"/>
              <p:cNvSpPr txBox="1"/>
              <p:nvPr/>
            </p:nvSpPr>
            <p:spPr>
              <a:xfrm>
                <a:off x="711200" y="4038600"/>
                <a:ext cx="5588000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90000"/>
                  </a:lnSpc>
                </a:pPr>
                <a14:m>
                  <m:oMath xmlns:m="http://schemas.openxmlformats.org/officeDocument/2006/math">
                    <m:r>
                      <a:rPr lang="en-US" sz="14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𝑝𝑜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𝑝𝑜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  <a:p>
                <a:pPr>
                  <a:lnSpc>
                    <a:spcPct val="1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𝑓𝑖𝑥</m:t>
                        </m:r>
                      </m:sup>
                    </m:sSubSup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6" name="fkFormula"/>
              <p:cNvSpPr txBox="1"/>
              <p:nvPr/>
            </p:nvSpPr>
            <p:spPr>
              <a:xfrm>
                <a:off x="711200" y="4038600"/>
                <a:ext cx="5588000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22271F"/>
                    </a:solidFill>
                    <a:latin typeface="MiSans"/>
                    <a:ea typeface="MiSans"/>
                  </a:rPr>
                  <a:t>\(pos_j = pos_{j-1} + W_{j-1}\,t_j\)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22271F"/>
                    </a:solidFill>
                    <a:latin typeface="MiSans"/>
                    <a:ea typeface="MiSans"/>
                  </a:rPr>
                  <a:t>\(W_j = W_{j-1}\,R^{fix}_j\,Z(\theta_j)\)</a:t>
                </a:r>
                <a:endParaRPr lang="en-US" sz="1400" noProof="1"/>
              </a:p>
            </p:txBody>
          </p:sp>
        </mc:Fallback>
      </mc:AlternateContent>
      <p:sp>
        <p:nvSpPr>
          <p:cNvPr id="17" name="fkNote"/>
          <p:cNvSpPr txBox="1"/>
          <p:nvPr/>
        </p:nvSpPr>
        <p:spPr>
          <a:xfrm>
            <a:off x="711200" y="5130800"/>
            <a:ext cx="5588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W 为世界旋转矩阵。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t_j、R_fix 均为常量，只有 θ_j 随时间变化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——这正是"joint 变换归一、变换下沉到 mesh"之后，运动学里剩下的全部内容。Three.js 每帧沿场景树重算 matrixWorld，等价于替我们执行这条递推。</a:t>
            </a:r>
            <a:endParaRPr lang="en-US" sz="1250" noProof="1"/>
          </a:p>
        </p:txBody>
      </p:sp>
      <p:sp>
        <p:nvSpPr>
          <p:cNvPr id="18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604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9" name="axisHead"/>
          <p:cNvSpPr txBox="1"/>
          <p:nvPr/>
        </p:nvSpPr>
        <p:spPr>
          <a:xfrm>
            <a:off x="6908800" y="14732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五关节局部 +Z 的世界方向（零位）</a:t>
            </a:r>
            <a:endParaRPr lang="en-US" sz="1500" noProof="1"/>
          </a:p>
        </p:txBody>
      </p:sp>
      <p:graphicFrame>
        <p:nvGraphicFramePr>
          <p:cNvPr id="20" name="axisTable"/>
          <p:cNvGraphicFramePr>
            <a:graphicFrameLocks noGrp="1"/>
          </p:cNvGraphicFramePr>
          <p:nvPr/>
        </p:nvGraphicFramePr>
        <p:xfrm>
          <a:off x="6908800" y="1828800"/>
          <a:ext cx="4572000" cy="274319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关节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局部 +Z 世界方向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角色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(−1, 0,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肩俯仰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(+1, 0,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肘俯仰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(0, 0.883, 0.469)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肘横摆·前倾 28°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371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(−1, 0,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腕俯仰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371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(0, −1,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法兰卷绕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axisNote"/>
          <p:cNvSpPr txBox="1"/>
          <p:nvPr/>
        </p:nvSpPr>
        <p:spPr>
          <a:xfrm>
            <a:off x="6908800" y="4800600"/>
            <a:ext cx="4572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读表方法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：J1 / J2 / J4 三轴共线（±X），同步转动只在一个平面内摆臂；J3 与它们近似正交并前倾 28°，负责让手臂</a:t>
            </a:r>
            <a:r>
              <a:rPr lang="en-US" sz="1250" noProof="1">
                <a:solidFill>
                  <a:srgbClr val="C75B26"/>
                </a:solidFill>
                <a:latin typeface="MiSans"/>
                <a:ea typeface="MiSans"/>
              </a:rPr>
              <a:t>偏离平面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工作；J5 沿 −Y，纯卷绕。</a:t>
            </a:r>
            <a:endParaRPr lang="en-US" sz="1250" noProof="1"/>
          </a:p>
        </p:txBody>
      </p:sp>
      <p:sp>
        <p:nvSpPr>
          <p:cNvPr id="22" name="srcNote"/>
          <p:cNvSpPr txBox="1"/>
          <p:nvPr/>
        </p:nvSpPr>
        <p:spPr>
          <a:xfrm>
            <a:off x="6908800" y="6045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数据：assets/joint_map.json（rfix_quat_wxyz 换算）</a:t>
            </a:r>
            <a:endParaRPr lang="en-US" sz="1050" noProof="1"/>
          </a:p>
        </p:txBody>
      </p:sp>
      <p:sp>
        <p:nvSpPr>
          <p:cNvPr id="23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4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07 / 27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正向运动学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正向运动学：从关节角到末端位姿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kDef"/>
              <p:cNvSpPr txBox="1"/>
              <p:nvPr/>
            </p:nvSpPr>
            <p:spPr>
              <a:xfrm>
                <a:off x="711200" y="1447800"/>
                <a:ext cx="10769600" cy="5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300" b="1" noProof="1">
                    <a:solidFill>
                      <a:srgbClr val="22271F"/>
                    </a:solidFill>
                    <a:latin typeface="MiSans"/>
                    <a:ea typeface="MiSans"/>
                  </a:rPr>
                  <a:t>正向运动学（FK）</a:t>
                </a:r>
                <a:r>
                  <a:rPr lang="en-US" sz="1300" noProof="1">
                    <a:solidFill>
                      <a:srgbClr val="22271F"/>
                    </a:solidFill>
                    <a:latin typeface="MiSans"/>
                    <a:ea typeface="MiSans"/>
                  </a:rPr>
                  <a:t>：给定关节向量 </a:t>
                </a:r>
                <a14:m>
                  <m:oMath xmlns:m="http://schemas.openxmlformats.org/officeDocument/2006/math">
                    <m:r>
                      <a:rPr lang="en-US" sz="13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3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3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13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3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noProof="1">
                    <a:solidFill>
                      <a:srgbClr val="22271F"/>
                    </a:solidFill>
                    <a:latin typeface="MiSans"/>
                    <a:ea typeface="MiSans"/>
                  </a:rPr>
                  <a:t>，求末端执行器在基座坐标系中的位姿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30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b>
                      <m:sSubPr>
                        <m:ctrlPr>
                          <a:rPr lang="en-US" sz="13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0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3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3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0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30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noProof="1">
                    <a:solidFill>
                      <a:srgbClr val="22271F"/>
                    </a:solidFill>
                    <a:latin typeface="MiSans"/>
                    <a:ea typeface="MiSans"/>
                  </a:rPr>
                  <a:t>。每个关节贡献一个 4×4 齐次变换，逐级连乘即得答案。</a:t>
                </a:r>
                <a:endParaRPr lang="en-US" sz="13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6" name="fkDef"/>
              <p:cNvSpPr txBox="1"/>
              <p:nvPr/>
            </p:nvSpPr>
            <p:spPr>
              <a:xfrm>
                <a:off x="711200" y="1447800"/>
                <a:ext cx="10769600" cy="5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300" noProof="1" b="1">
                    <a:solidFill>
                      <a:srgbClr val="22271F"/>
                    </a:solidFill>
                    <a:latin typeface="MiSans"/>
                    <a:ea typeface="MiSans"/>
                  </a:rPr>
                  <a:t>正向运动学（FK）</a:t>
                </a:r>
                <a:r>
                  <a:rPr lang="en-US" sz="1300" noProof="1">
                    <a:solidFill>
                      <a:srgbClr val="22271F"/>
                    </a:solidFill>
                    <a:latin typeface="MiSans"/>
                    <a:ea typeface="MiSans"/>
                  </a:rPr>
                  <a:t>：给定关节向量 \(q=(\theta_1,\dots,\theta_n)\)，求末端执行器在基座坐标系中的位姿 \({}^{0}T_{n}=f(q)\)。每个关节贡献一个 4×4 齐次变换，逐级连乘即得答案。</a:t>
                </a:r>
                <a:endParaRPr lang="en-US" sz="1300" noProof="1"/>
              </a:p>
            </p:txBody>
          </p:sp>
        </mc:Fallback>
      </mc:AlternateContent>
      <p:sp>
        <p:nvSpPr>
          <p:cNvPr id="7" name="dhHead"/>
          <p:cNvSpPr txBox="1"/>
          <p:nvPr/>
        </p:nvSpPr>
        <p:spPr>
          <a:xfrm>
            <a:off x="711200" y="20574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DH 参数法：四个参数描述一级关节</a:t>
            </a:r>
            <a:endParaRPr lang="en-US" sz="1500" noProof="1"/>
          </a:p>
        </p:txBody>
      </p:sp>
      <p:graphicFrame>
        <p:nvGraphicFramePr>
          <p:cNvPr id="8" name="dh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974463"/>
              </p:ext>
            </p:extLst>
          </p:nvPr>
        </p:nvGraphicFramePr>
        <p:xfrm>
          <a:off x="711200" y="2413000"/>
          <a:ext cx="4894580" cy="1905000"/>
        </p:xfrm>
        <a:graphic>
          <a:graphicData uri="http://schemas.openxmlformats.org/drawingml/2006/table">
            <a:tbl>
              <a:tblPr/>
              <a:tblGrid>
                <a:gridCol w="52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参数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含义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绕 / 沿哪个轴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θᵢ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关节角（变量）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绕 zᵢ₋₁ 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dᵢ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连杆偏距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沿 zᵢ₋₁ 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aᵢ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连杆长度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沿 xᵢ 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αᵢ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连杆扭角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绕 xᵢ 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dhFormula"/>
              <p:cNvSpPr txBox="1"/>
              <p:nvPr/>
            </p:nvSpPr>
            <p:spPr>
              <a:xfrm>
                <a:off x="711200" y="4470400"/>
                <a:ext cx="5461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8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350" i="1" noProof="1" smtClean="0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𝑅𝑜𝑡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𝑇𝑟𝑎𝑛𝑠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𝑇𝑟𝑎𝑛𝑠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𝑅𝑜𝑡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5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9" name="dhFormula"/>
              <p:cNvSpPr txBox="1"/>
              <p:nvPr/>
            </p:nvSpPr>
            <p:spPr>
              <a:xfrm>
                <a:off x="711200" y="4470400"/>
                <a:ext cx="5461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80000"/>
                  </a:lnSpc>
                </a:pPr>
                <a:r>
                  <a:rPr lang="en-US" sz="1350" noProof="1">
                    <a:solidFill>
                      <a:srgbClr val="22271F"/>
                    </a:solidFill>
                    <a:latin typeface="MiSans"/>
                    <a:ea typeface="MiSans"/>
                  </a:rPr>
                  <a:t>\({}^{i-1}T_{i}=Rot(z,\theta_i)\,Trans(z,d_i)\,Trans(x,a_i)\,Rot(x,\alpha_i)\)</a:t>
                </a:r>
                <a:endParaRPr lang="en-US" sz="135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hChain"/>
              <p:cNvSpPr txBox="1"/>
              <p:nvPr/>
            </p:nvSpPr>
            <p:spPr>
              <a:xfrm>
                <a:off x="711200" y="5283200"/>
                <a:ext cx="5461000" cy="93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75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 </m:t>
                    </m:r>
                    <m:sSup>
                      <m:sSup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)⋯</m:t>
                    </m:r>
                    <m:sSup>
                      <m:sSup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3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50" noProof="1"/>
                  <a:t> </a:t>
                </a:r>
              </a:p>
              <a:p>
                <a:pPr>
                  <a:lnSpc>
                    <a:spcPct val="175000"/>
                  </a:lnSpc>
                  <a:spcBef>
                    <a:spcPts val="200"/>
                  </a:spcBef>
                </a:pPr>
                <a:r>
                  <a:rPr lang="en-US" sz="1200" noProof="1">
                    <a:solidFill>
                      <a:srgbClr val="7A8072"/>
                    </a:solidFill>
                    <a:latin typeface="MiSans"/>
                    <a:ea typeface="MiSans"/>
                  </a:rPr>
                  <a:t>改进 DH（Modified DH）变换顺序不同，建模时务必与所用模型库的约定保持一致。</a:t>
                </a:r>
                <a:endParaRPr lang="en-US" sz="135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0" name="dhChain"/>
              <p:cNvSpPr txBox="1"/>
              <p:nvPr/>
            </p:nvSpPr>
            <p:spPr>
              <a:xfrm>
                <a:off x="711200" y="5283200"/>
                <a:ext cx="5461000" cy="93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75000"/>
                  </a:lnSpc>
                </a:pPr>
                <a:r>
                  <a:rPr lang="en-US" sz="1350" noProof="1">
                    <a:solidFill>
                      <a:srgbClr val="22271F"/>
                    </a:solidFill>
                    <a:latin typeface="MiSans"/>
                    <a:ea typeface="MiSans"/>
                  </a:rPr>
                  <a:t>\({}^{0}T_{n}(q)={}^{0}T_{1}(\theta_1)\,{}^{1}T_{2}(\theta_2)\cdots{}^{n-1}T_{n}(\theta_n)\)</a:t>
                </a:r>
                <a:endParaRPr lang="en-US" sz="1350" noProof="1"/>
              </a:p>
              <a:p>
                <a:pPr>
                  <a:lnSpc>
                    <a:spcPct val="175000"/>
                  </a:lnSpc>
                  <a:spcBef>
                    <a:spcPts val="200"/>
                  </a:spcBef>
                </a:pPr>
                <a:r>
                  <a:rPr lang="en-US" sz="1200" noProof="1">
                    <a:solidFill>
                      <a:srgbClr val="7A8072"/>
                    </a:solidFill>
                    <a:latin typeface="MiSans"/>
                    <a:ea typeface="MiSans"/>
                  </a:rPr>
                  <a:t>改进 DH（Modified DH）变换顺序不同，建模时务必与所用模型库的约定保持一致。</a:t>
                </a:r>
                <a:endParaRPr lang="en-US" sz="1350" noProof="1"/>
              </a:p>
            </p:txBody>
          </p:sp>
        </mc:Fallback>
      </mc:AlternateContent>
      <p:sp>
        <p:nvSpPr>
          <p:cNvPr id="11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eyJ2aWV3Qm94IjpbMSwzMjhdLCJwb2ludHMiOiIwLDAgMCwzMjgiLCJjdXJ2ZSI6InNoYXJwIn0</pptd:line>
              </p:ext>
            </p:extLst>
          </p:nvPr>
        </p:nvSpPr>
        <p:spPr>
          <a:xfrm>
            <a:off x="6477000" y="2057400"/>
            <a:ext cx="12700" cy="4165600"/>
          </a:xfrm>
          <a:custGeom>
            <a:avLst/>
            <a:gdLst/>
            <a:ahLst/>
            <a:cxnLst/>
            <a:rect l="l" t="t" r="r" b="b"/>
            <a:pathLst>
              <a:path w="1" h="328">
                <a:moveTo>
                  <a:pt x="0" y="0"/>
                </a:moveTo>
                <a:lnTo>
                  <a:pt x="0" y="328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2" name="poeHead"/>
          <p:cNvSpPr txBox="1"/>
          <p:nvPr/>
        </p:nvSpPr>
        <p:spPr>
          <a:xfrm>
            <a:off x="6781800" y="20574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另一种等价视角：指数积（PoE）</a:t>
            </a:r>
            <a:endParaRPr lang="en-US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eTxt"/>
              <p:cNvSpPr txBox="1"/>
              <p:nvPr/>
            </p:nvSpPr>
            <p:spPr>
              <a:xfrm>
                <a:off x="6781800" y="2413000"/>
                <a:ext cx="4699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5000"/>
                  </a:lnSpc>
                </a:pP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Modern Robotics 采用旋量理论：把每个关节看作一根螺旋轴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，FK 写成矩阵指数的乘积 </a:t>
                </a:r>
                <a14:m>
                  <m:oMath xmlns:m="http://schemas.openxmlformats.org/officeDocument/2006/math">
                    <m:r>
                      <a:rPr lang="en-US" sz="1250" i="1" noProof="1">
                        <a:solidFill>
                          <a:srgbClr val="7A807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250" i="0" noProof="1">
                        <a:solidFill>
                          <a:srgbClr val="7A807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50" i="1" noProof="1">
                        <a:solidFill>
                          <a:srgbClr val="7A8072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50" i="0" noProof="1">
                        <a:solidFill>
                          <a:srgbClr val="7A8072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50" i="0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250" i="0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50" i="0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b>
                          <m:sSubPr>
                            <m:ctrlP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i="0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50" i="0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1250" i="0" noProof="1">
                        <a:solidFill>
                          <a:srgbClr val="7A8072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p>
                      <m:sSupPr>
                        <m:ctrlP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50" i="1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50" i="0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250" i="0" noProof="1">
                            <a:solidFill>
                              <a:srgbClr val="7A8072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b>
                          <m:sSubPr>
                            <m:ctrlP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i="0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50" i="1" noProof="1">
                                <a:solidFill>
                                  <a:srgbClr val="7A807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  <m:r>
                      <a:rPr lang="en-US" sz="1250" i="1" noProof="1">
                        <a:solidFill>
                          <a:srgbClr val="7A8072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。与 DH 结果完全一致，但无需人为建立连杆坐标系。</a:t>
                </a:r>
                <a:endParaRPr lang="en-US" sz="1250" noProof="1"/>
              </a:p>
              <a:p>
                <a:pPr>
                  <a:lnSpc>
                    <a:spcPct val="165000"/>
                  </a:lnSpc>
                  <a:spcBef>
                    <a:spcPts val="600"/>
                  </a:spcBef>
                </a:pPr>
                <a:r>
                  <a:rPr lang="en-US" sz="1250" noProof="1">
                    <a:solidFill>
                      <a:srgbClr val="C75B26"/>
                    </a:solidFill>
                    <a:latin typeface="MiSans"/>
                    <a:ea typeface="MiSans"/>
                  </a:rPr>
                  <a:t>实验只要求掌握 DH；PoE 供学有余力的同学延伸阅读。</a:t>
                </a:r>
                <a:endParaRPr lang="en-US" sz="125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3" name="poeTxt"/>
              <p:cNvSpPr txBox="1"/>
              <p:nvPr/>
            </p:nvSpPr>
            <p:spPr>
              <a:xfrm>
                <a:off x="6781800" y="2413000"/>
                <a:ext cx="4699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5000"/>
                  </a:lnSpc>
                </a:pPr>
                <a:r>
                  <a:rPr lang="en-US" sz="1250" noProof="1">
                    <a:solidFill>
                      <a:srgbClr val="7A8072"/>
                    </a:solidFill>
                    <a:latin typeface="MiSans"/>
                    <a:ea typeface="MiSans"/>
                  </a:rPr>
                  <a:t>Modern Robotics 采用旋量理论：把每个关节看作一根螺旋轴 \(S_i\)，FK 写成矩阵指数的乘积 \(T(q)=e^{[S_1]\theta_1}\cdots e^{[S_n]\theta_n}M\)。与 DH 结果完全一致，但无需人为建立连杆坐标系。</a:t>
                </a:r>
                <a:endParaRPr lang="en-US" sz="1250" noProof="1"/>
              </a:p>
              <a:p>
                <a:pPr>
                  <a:lnSpc>
                    <a:spcPct val="165000"/>
                  </a:lnSpc>
                  <a:spcBef>
                    <a:spcPts val="600"/>
                  </a:spcBef>
                </a:pPr>
                <a:r>
                  <a:rPr lang="en-US" sz="1250" noProof="1">
                    <a:solidFill>
                      <a:srgbClr val="C75B26"/>
                    </a:solidFill>
                    <a:latin typeface="MiSans"/>
                    <a:ea typeface="MiSans"/>
                  </a:rPr>
                  <a:t>实验只要求掌握 DH；PoE 供学有余力的同学延伸阅读。</a:t>
                </a:r>
                <a:endParaRPr lang="en-US" sz="1250" noProof="1"/>
              </a:p>
            </p:txBody>
          </p:sp>
        </mc:Fallback>
      </mc:AlternateContent>
      <p:sp>
        <p:nvSpPr>
          <p:cNvPr id="14" name="ur5Head"/>
          <p:cNvSpPr txBox="1"/>
          <p:nvPr/>
        </p:nvSpPr>
        <p:spPr>
          <a:xfrm>
            <a:off x="6781800" y="42164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课堂练习（必做）</a:t>
            </a:r>
            <a:endParaRPr lang="en-US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ur5Task"/>
              <p:cNvSpPr txBox="1"/>
              <p:nvPr/>
            </p:nvSpPr>
            <p:spPr>
              <a:xfrm>
                <a:off x="6781800" y="4572000"/>
                <a:ext cx="4699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5000"/>
                  </a:lnSpc>
                </a:pP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查 UR5 官方 DH 参数表，手算全零位形 </a:t>
                </a:r>
                <a14:m>
                  <m:oMath xmlns:m="http://schemas.openxmlformats.org/officeDocument/2006/math">
                    <m:r>
                      <a:rPr lang="en-US" sz="12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50" b="1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下的末端位姿；随后在仿真器中将所有关节置 0，对比场景树输出的 matrixWorld——两者应一致（容差 1e-6）。</a:t>
                </a:r>
                <a:endParaRPr lang="en-US" sz="1250" noProof="1"/>
              </a:p>
              <a:p>
                <a:pPr>
                  <a:lnSpc>
                    <a:spcPct val="165000"/>
                  </a:lnSpc>
                  <a:spcBef>
                    <a:spcPts val="600"/>
                  </a:spcBef>
                </a:pPr>
                <a:r>
                  <a:rPr lang="en-US" sz="1150" noProof="1">
                    <a:solidFill>
                      <a:srgbClr val="7A8072"/>
                    </a:solidFill>
                    <a:latin typeface="MiSans"/>
                    <a:ea typeface="MiSans"/>
                  </a:rPr>
                  <a:t>这是实验一 FK 验证的基准测试，写进实验报告。</a:t>
                </a:r>
                <a:endParaRPr lang="en-US" sz="125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5" name="ur5Task"/>
              <p:cNvSpPr txBox="1"/>
              <p:nvPr/>
            </p:nvSpPr>
            <p:spPr>
              <a:xfrm>
                <a:off x="6781800" y="4572000"/>
                <a:ext cx="4699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5000"/>
                  </a:lnSpc>
                </a:pP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查 UR5 官方 DH 参数表，手算全零位形 \(q=\mathbf{0}\) 下的末端位姿；随后在仿真器中将所有关节置 0，对比场景树输出的 matrixWorld——两者应一致（容差 1e-6）。</a:t>
                </a:r>
                <a:endParaRPr lang="en-US" sz="1250" noProof="1"/>
              </a:p>
              <a:p>
                <a:pPr>
                  <a:lnSpc>
                    <a:spcPct val="165000"/>
                  </a:lnSpc>
                  <a:spcBef>
                    <a:spcPts val="600"/>
                  </a:spcBef>
                </a:pPr>
                <a:r>
                  <a:rPr lang="en-US" sz="1150" noProof="1">
                    <a:solidFill>
                      <a:srgbClr val="7A8072"/>
                    </a:solidFill>
                    <a:latin typeface="MiSans"/>
                    <a:ea typeface="MiSans"/>
                  </a:rPr>
                  <a:t>这是实验一 FK 验证的基准测试，写进实验报告。</a:t>
                </a:r>
                <a:endParaRPr lang="en-US" sz="1250" noProof="1"/>
              </a:p>
            </p:txBody>
          </p:sp>
        </mc:Fallback>
      </mc:AlternateContent>
      <p:sp>
        <p:nvSpPr>
          <p:cNvPr id="16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7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08 / 27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准 DH 参数法中的坐标系变换关系, AI generated">
            <a:extLst>
              <a:ext uri="{FF2B5EF4-FFF2-40B4-BE49-F238E27FC236}">
                <a16:creationId xmlns:a16="http://schemas.microsoft.com/office/drawing/2014/main" id="{E0A36054-10A1-47F7-A876-B2925655A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415" y="1739434"/>
            <a:ext cx="283845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D305FE7-B669-4151-B463-AD3EEDF84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0" y="188902"/>
            <a:ext cx="7287611" cy="64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79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20D8DD-9446-4407-8B3A-067D37B2B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15" y="557900"/>
            <a:ext cx="6820251" cy="5943905"/>
          </a:xfrm>
          <a:prstGeom prst="rect">
            <a:avLst/>
          </a:prstGeom>
        </p:spPr>
      </p:pic>
      <p:pic>
        <p:nvPicPr>
          <p:cNvPr id="4" name="Picture 2" descr="标准 DH 参数法中的坐标系变换关系, AI generated">
            <a:extLst>
              <a:ext uri="{FF2B5EF4-FFF2-40B4-BE49-F238E27FC236}">
                <a16:creationId xmlns:a16="http://schemas.microsoft.com/office/drawing/2014/main" id="{B5958CCA-0029-4111-A263-1DF9A3119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415" y="1739434"/>
            <a:ext cx="283845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23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7ECF97-4557-4D4F-8892-FC7243B32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6" y="393734"/>
            <a:ext cx="6788499" cy="5962956"/>
          </a:xfrm>
          <a:prstGeom prst="rect">
            <a:avLst/>
          </a:prstGeom>
        </p:spPr>
      </p:pic>
      <p:pic>
        <p:nvPicPr>
          <p:cNvPr id="4" name="Picture 2" descr="标准 DH 参数法中的坐标系变换关系, AI generated">
            <a:extLst>
              <a:ext uri="{FF2B5EF4-FFF2-40B4-BE49-F238E27FC236}">
                <a16:creationId xmlns:a16="http://schemas.microsoft.com/office/drawing/2014/main" id="{79EBDBEA-2665-46EE-9BC2-0BB8BA287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415" y="1739434"/>
            <a:ext cx="283845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470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3" name="pageTopic"/>
          <p:cNvSpPr txBox="1"/>
          <p:nvPr/>
        </p:nvSpPr>
        <p:spPr>
          <a:xfrm>
            <a:off x="7114032" y="384048"/>
            <a:ext cx="437083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原理介绍 · 逆向运动学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22271F"/>
                </a:solidFill>
                <a:latin typeface="MiSans"/>
                <a:ea typeface="MiSans"/>
              </a:rPr>
              <a:t>逆向运动学：从末端位姿反求关节角</a:t>
            </a:r>
          </a:p>
        </p:txBody>
      </p:sp>
      <p:sp>
        <p:nvSpPr>
          <p:cNvPr id="5" name="rule"/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kHead"/>
          <p:cNvSpPr txBox="1"/>
          <p:nvPr/>
        </p:nvSpPr>
        <p:spPr>
          <a:xfrm>
            <a:off x="713232" y="1472184"/>
            <a:ext cx="5458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FK 与 IK：一对互逆问题</a:t>
            </a:r>
          </a:p>
        </p:txBody>
      </p:sp>
      <p:sp>
        <p:nvSpPr>
          <p:cNvPr id="7" name="ikBody"/>
          <p:cNvSpPr txBox="1"/>
          <p:nvPr/>
        </p:nvSpPr>
        <p:spPr>
          <a:xfrm>
            <a:off x="713232" y="1828800"/>
            <a:ext cx="5458968" cy="2560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22271F"/>
                </a:solidFill>
                <a:latin typeface="MiSans"/>
                <a:ea typeface="MiSans"/>
              </a:rPr>
              <a:t>FK 正向运动学：</a:t>
            </a:r>
            <a:r>
              <a:rPr sz="1300" b="0" i="0">
                <a:solidFill>
                  <a:srgbClr val="7A8072"/>
                </a:solidFill>
                <a:latin typeface="MiSans"/>
                <a:ea typeface="MiSans"/>
              </a:rPr>
              <a:t>已知关节角 q → 求末端位姿 x。齐次矩阵连乘，解唯一——上一节已完成。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2271F"/>
                </a:solidFill>
                <a:latin typeface="MiSans"/>
                <a:ea typeface="MiSans"/>
              </a:rPr>
              <a:t>IK 逆向运动学：</a:t>
            </a:r>
            <a:r>
              <a:rPr sz="1300" b="0" i="0">
                <a:solidFill>
                  <a:srgbClr val="7A8072"/>
                </a:solidFill>
                <a:latin typeface="MiSans"/>
                <a:ea typeface="MiSans"/>
              </a:rPr>
              <a:t>已知末端位姿 x → 反求关节角 q。本质是解三角方程组，可能无解、多解，冗余臂甚至无穷多解。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2271F"/>
                </a:solidFill>
                <a:latin typeface="MiSans"/>
                <a:ea typeface="MiSans"/>
              </a:rPr>
              <a:t>为什么示教编程离不开 IK：</a:t>
            </a:r>
            <a:r>
              <a:rPr sz="1300" b="0" i="0">
                <a:solidFill>
                  <a:srgbClr val="7A8072"/>
                </a:solidFill>
                <a:latin typeface="MiSans"/>
                <a:ea typeface="MiSans"/>
              </a:rPr>
              <a:t>操作者关心的是“末端去哪”，关节角只是手段；画圆、直线扫描等笛卡尔动作，必须在位姿空间插值后逐点求 IK。</a:t>
            </a:r>
          </a:p>
        </p:txBody>
      </p:sp>
      <p:sp>
        <p:nvSpPr>
          <p:cNvPr id="8" name="ikSel"/>
          <p:cNvSpPr txBox="1"/>
          <p:nvPr/>
        </p:nvSpPr>
        <p:spPr>
          <a:xfrm>
            <a:off x="713232" y="4617720"/>
            <a:ext cx="5458968" cy="1554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多组解里选哪一解？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· 行程最短：选离当前关节角最近的解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· 避奇异：远离雅可比降秩的位形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· 避障碍 / 避限位：按作业场景施加约束</a:t>
            </a:r>
          </a:p>
        </p:txBody>
      </p:sp>
      <p:sp>
        <p:nvSpPr>
          <p:cNvPr id="9" name="midRule"/>
          <p:cNvSpPr/>
          <p:nvPr/>
        </p:nvSpPr>
        <p:spPr>
          <a:xfrm>
            <a:off x="6501384" y="1472184"/>
            <a:ext cx="10058" cy="4745736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kFigHead"/>
          <p:cNvSpPr txBox="1"/>
          <p:nvPr/>
        </p:nvSpPr>
        <p:spPr>
          <a:xfrm>
            <a:off x="6803136" y="1472184"/>
            <a:ext cx="467258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同一目标，多组解</a:t>
            </a:r>
          </a:p>
        </p:txBody>
      </p:sp>
      <p:pic>
        <p:nvPicPr>
          <p:cNvPr id="11" name="ikImg" descr="ik_two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1828800"/>
            <a:ext cx="4672584" cy="2900374"/>
          </a:xfrm>
          <a:prstGeom prst="rect">
            <a:avLst/>
          </a:prstGeom>
        </p:spPr>
      </p:pic>
      <p:sp>
        <p:nvSpPr>
          <p:cNvPr id="12" name="ikFigNote"/>
          <p:cNvSpPr txBox="1"/>
          <p:nvPr/>
        </p:nvSpPr>
        <p:spPr>
          <a:xfrm>
            <a:off x="6803136" y="4956048"/>
            <a:ext cx="4672584" cy="11887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平面 2R 臂对同一目标点给出“肘上 / 肘下”两组解；6R 工业臂同一 TCP 位姿最多可达 16 组解（肩 / 肘 / 腕三处翻转的组合）。</a:t>
            </a:r>
          </a:p>
        </p:txBody>
      </p:sp>
      <p:sp>
        <p:nvSpPr>
          <p:cNvPr id="13" name="srcNote"/>
          <p:cNvSpPr txBox="1"/>
          <p:nvPr/>
        </p:nvSpPr>
        <p:spPr>
          <a:xfrm>
            <a:off x="6803136" y="6144768"/>
            <a:ext cx="4672584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7A8072"/>
                </a:solidFill>
                <a:latin typeface="MiSans"/>
                <a:ea typeface="MiSans"/>
              </a:rPr>
              <a:t>参考：Lynch &amp; Park《Modern Robotics》Chapter 6</a:t>
            </a:r>
          </a:p>
        </p:txBody>
      </p:sp>
      <p:sp>
        <p:nvSpPr>
          <p:cNvPr id="14" name="footerL"/>
          <p:cNvSpPr txBox="1"/>
          <p:nvPr/>
        </p:nvSpPr>
        <p:spPr>
          <a:xfrm>
            <a:off x="713232" y="6528816"/>
            <a:ext cx="5084064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</a:p>
        </p:txBody>
      </p:sp>
      <p:sp>
        <p:nvSpPr>
          <p:cNvPr id="15" name="footerR"/>
          <p:cNvSpPr txBox="1"/>
          <p:nvPr/>
        </p:nvSpPr>
        <p:spPr>
          <a:xfrm>
            <a:off x="10213848" y="6528816"/>
            <a:ext cx="1271016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A8072"/>
                </a:solidFill>
                <a:latin typeface="MiSans"/>
                <a:ea typeface="MiSans"/>
              </a:rPr>
              <a:t>09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3" name="pageTopic"/>
          <p:cNvSpPr txBox="1"/>
          <p:nvPr/>
        </p:nvSpPr>
        <p:spPr>
          <a:xfrm>
            <a:off x="7114032" y="384048"/>
            <a:ext cx="437083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原理介绍 · 逆向运动学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22271F"/>
                </a:solidFill>
                <a:latin typeface="MiSans"/>
                <a:ea typeface="MiSans"/>
              </a:rPr>
              <a:t>IK 怎么解：解析法与数值迭代</a:t>
            </a:r>
          </a:p>
        </p:txBody>
      </p:sp>
      <p:sp>
        <p:nvSpPr>
          <p:cNvPr id="5" name="rule"/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Head"/>
          <p:cNvSpPr txBox="1"/>
          <p:nvPr/>
        </p:nvSpPr>
        <p:spPr>
          <a:xfrm>
            <a:off x="713232" y="1472184"/>
            <a:ext cx="5458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两条求解路线</a:t>
            </a:r>
          </a:p>
        </p:txBody>
      </p:sp>
      <p:sp>
        <p:nvSpPr>
          <p:cNvPr id="7" name="m1box"/>
          <p:cNvSpPr/>
          <p:nvPr/>
        </p:nvSpPr>
        <p:spPr>
          <a:xfrm>
            <a:off x="713232" y="1828800"/>
            <a:ext cx="2642616" cy="178308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1txt"/>
          <p:cNvSpPr txBox="1"/>
          <p:nvPr/>
        </p:nvSpPr>
        <p:spPr>
          <a:xfrm>
            <a:off x="886968" y="1956816"/>
            <a:ext cx="2286000" cy="1554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解析法（几何 / 代数）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利用 Pieper 准则（三相邻轴交于一点）拆分为位置 + 姿态两级求解，直接给出全部解。快而精确，是工业 6R 臂控制器的标配。</a:t>
            </a:r>
          </a:p>
        </p:txBody>
      </p:sp>
      <p:sp>
        <p:nvSpPr>
          <p:cNvPr id="9" name="m2box"/>
          <p:cNvSpPr/>
          <p:nvPr/>
        </p:nvSpPr>
        <p:spPr>
          <a:xfrm>
            <a:off x="3557016" y="1828800"/>
            <a:ext cx="2642616" cy="178308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2txt"/>
          <p:cNvSpPr txBox="1"/>
          <p:nvPr/>
        </p:nvSpPr>
        <p:spPr>
          <a:xfrm>
            <a:off x="3730752" y="1956816"/>
            <a:ext cx="2286000" cy="1554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数值法（迭代）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雅可比伪逆 / 阻尼最小二乘（DLS），从当前关节角出发迭代逼近。通用、不限构型，但依赖初值且需处理奇异。</a:t>
            </a:r>
          </a:p>
        </p:txBody>
      </p:sp>
      <p:sp>
        <p:nvSpPr>
          <p:cNvPr id="11" name="singNote"/>
          <p:cNvSpPr txBox="1"/>
          <p:nvPr/>
        </p:nvSpPr>
        <p:spPr>
          <a:xfrm>
            <a:off x="713232" y="3840480"/>
            <a:ext cx="5486400" cy="960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奇异位形 Singularity：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J(q) 降秩时，微小的笛卡尔运动将要求无穷大的关节速度——DLS 引入阻尼因子 λ，以精度换稳定。</a:t>
            </a:r>
          </a:p>
        </p:txBody>
      </p:sp>
      <p:sp>
        <p:nvSpPr>
          <p:cNvPr id="12" name="movjNote"/>
          <p:cNvSpPr txBox="1"/>
          <p:nvPr/>
        </p:nvSpPr>
        <p:spPr>
          <a:xfrm>
            <a:off x="713232" y="4846320"/>
            <a:ext cx="5486400" cy="1280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回到示教编程：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MOVJ 在关节空间插值，点到点无需 IK；画圆 / 360° 扫描等笛卡尔动作要先对路径点逐点求 IK——这正是实验要求 b 背后的计算。</a:t>
            </a:r>
          </a:p>
        </p:txBody>
      </p:sp>
      <p:sp>
        <p:nvSpPr>
          <p:cNvPr id="13" name="midRule"/>
          <p:cNvSpPr/>
          <p:nvPr/>
        </p:nvSpPr>
        <p:spPr>
          <a:xfrm>
            <a:off x="6501384" y="1472184"/>
            <a:ext cx="10058" cy="4745736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odeHead"/>
          <p:cNvSpPr txBox="1"/>
          <p:nvPr/>
        </p:nvSpPr>
        <p:spPr>
          <a:xfrm>
            <a:off x="6803136" y="1472184"/>
            <a:ext cx="467258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阻尼最小二乘（DLS）迭代</a:t>
            </a:r>
          </a:p>
        </p:txBody>
      </p:sp>
      <p:sp>
        <p:nvSpPr>
          <p:cNvPr id="15" name="codePanel"/>
          <p:cNvSpPr/>
          <p:nvPr/>
        </p:nvSpPr>
        <p:spPr>
          <a:xfrm>
            <a:off x="6803136" y="1828800"/>
            <a:ext cx="4672584" cy="3246120"/>
          </a:xfrm>
          <a:prstGeom prst="rect">
            <a:avLst/>
          </a:prstGeom>
          <a:solidFill>
            <a:srgbClr val="272C27"/>
          </a:solidFill>
          <a:ln w="19050">
            <a:solidFill>
              <a:srgbClr val="272C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odeTxt"/>
          <p:cNvSpPr txBox="1"/>
          <p:nvPr/>
        </p:nvSpPr>
        <p:spPr>
          <a:xfrm>
            <a:off x="6967728" y="1956816"/>
            <a:ext cx="4343400" cy="3017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8FA98F"/>
                </a:solidFill>
                <a:latin typeface="Consolas"/>
                <a:ea typeface="Consolas"/>
              </a:rPr>
              <a:t>// 阻尼最小二乘 IK：从当前 q 迭代逼近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while (err &gt; tol) {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  x  = FK(q)                 // 当前末端位姿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  e  = poseErr(x_target, x)  // 位姿误差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  J  = jacobian(q)           // 6×n 雅可比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  dq = Jᵀ·(J·Jᵀ+λ²I)⁻¹ · e   // 阻尼最小二乘步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  q += clamp(dq)             // 限位钳制后更新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  err = |e|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9E5D7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7" name="codeNote"/>
          <p:cNvSpPr txBox="1"/>
          <p:nvPr/>
        </p:nvSpPr>
        <p:spPr>
          <a:xfrm>
            <a:off x="6803136" y="5257800"/>
            <a:ext cx="4672584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λ 越大越稳越慢，λ→0 退化为伪逆。初值通常取当前关节角——这也是为什么 IK 总是“从当前姿态出发”找最近解。</a:t>
            </a:r>
          </a:p>
        </p:txBody>
      </p:sp>
      <p:sp>
        <p:nvSpPr>
          <p:cNvPr id="18" name="srcNote"/>
          <p:cNvSpPr txBox="1"/>
          <p:nvPr/>
        </p:nvSpPr>
        <p:spPr>
          <a:xfrm>
            <a:off x="6803136" y="6144768"/>
            <a:ext cx="4672584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7A8072"/>
                </a:solidFill>
                <a:latin typeface="MiSans"/>
                <a:ea typeface="MiSans"/>
              </a:rPr>
              <a:t>参考：Lynch &amp; Park《Modern Robotics》§6.2 数值逆运动学</a:t>
            </a:r>
          </a:p>
        </p:txBody>
      </p:sp>
      <p:sp>
        <p:nvSpPr>
          <p:cNvPr id="19" name="footerL"/>
          <p:cNvSpPr txBox="1"/>
          <p:nvPr/>
        </p:nvSpPr>
        <p:spPr>
          <a:xfrm>
            <a:off x="713232" y="6528816"/>
            <a:ext cx="5084064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</a:p>
        </p:txBody>
      </p:sp>
      <p:sp>
        <p:nvSpPr>
          <p:cNvPr id="20" name="footerR"/>
          <p:cNvSpPr txBox="1"/>
          <p:nvPr/>
        </p:nvSpPr>
        <p:spPr>
          <a:xfrm>
            <a:off x="10213848" y="6528816"/>
            <a:ext cx="1271016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A8072"/>
                </a:solidFill>
                <a:latin typeface="MiSans"/>
                <a:ea typeface="MiSans"/>
              </a:rPr>
              <a:t>10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3" name="pageTopic"/>
          <p:cNvSpPr txBox="1"/>
          <p:nvPr/>
        </p:nvSpPr>
        <p:spPr>
          <a:xfrm>
            <a:off x="7114032" y="384048"/>
            <a:ext cx="437083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实验目的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22271F"/>
                </a:solidFill>
                <a:latin typeface="MiSans"/>
                <a:ea typeface="MiSans"/>
              </a:rPr>
              <a:t>实验目的：从“让模型动起来”到“像工程师一样用它”</a:t>
            </a:r>
          </a:p>
        </p:txBody>
      </p:sp>
      <p:sp>
        <p:nvSpPr>
          <p:cNvPr id="5" name="rule"/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goalN01"/>
          <p:cNvSpPr txBox="1"/>
          <p:nvPr/>
        </p:nvSpPr>
        <p:spPr>
          <a:xfrm>
            <a:off x="713232" y="1737360"/>
            <a:ext cx="548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75B26"/>
                </a:solidFill>
                <a:latin typeface="MiSans"/>
                <a:ea typeface="MiSans"/>
              </a:rPr>
              <a:t>01</a:t>
            </a:r>
          </a:p>
        </p:txBody>
      </p:sp>
      <p:sp>
        <p:nvSpPr>
          <p:cNvPr id="7" name="goalT01"/>
          <p:cNvSpPr txBox="1"/>
          <p:nvPr/>
        </p:nvSpPr>
        <p:spPr>
          <a:xfrm>
            <a:off x="1371600" y="1737360"/>
            <a:ext cx="51206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22271F"/>
                </a:solidFill>
                <a:latin typeface="MiSans"/>
                <a:ea typeface="MiSans"/>
              </a:rPr>
              <a:t>掌握机械臂系统组成：本体、示教器、控制器各自的角色与协同关系</a:t>
            </a:r>
          </a:p>
        </p:txBody>
      </p:sp>
      <p:sp>
        <p:nvSpPr>
          <p:cNvPr id="8" name="goalN02"/>
          <p:cNvSpPr txBox="1"/>
          <p:nvPr/>
        </p:nvSpPr>
        <p:spPr>
          <a:xfrm>
            <a:off x="713232" y="2578608"/>
            <a:ext cx="548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75B26"/>
                </a:solidFill>
                <a:latin typeface="MiSans"/>
                <a:ea typeface="MiSans"/>
              </a:rPr>
              <a:t>02</a:t>
            </a:r>
          </a:p>
        </p:txBody>
      </p:sp>
      <p:sp>
        <p:nvSpPr>
          <p:cNvPr id="9" name="goalT02"/>
          <p:cNvSpPr txBox="1"/>
          <p:nvPr/>
        </p:nvSpPr>
        <p:spPr>
          <a:xfrm>
            <a:off x="1371600" y="2578608"/>
            <a:ext cx="51206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 dirty="0" err="1">
                <a:solidFill>
                  <a:srgbClr val="22271F"/>
                </a:solidFill>
                <a:latin typeface="MiSans"/>
                <a:ea typeface="MiSans"/>
              </a:rPr>
              <a:t>理解正</a:t>
            </a:r>
            <a:r>
              <a:rPr sz="1300" b="0" i="0" dirty="0">
                <a:solidFill>
                  <a:srgbClr val="22271F"/>
                </a:solidFill>
                <a:latin typeface="MiSans"/>
                <a:ea typeface="MiSans"/>
              </a:rPr>
              <a:t> / </a:t>
            </a:r>
            <a:r>
              <a:rPr sz="1300" b="0" i="0" dirty="0" err="1">
                <a:solidFill>
                  <a:srgbClr val="22271F"/>
                </a:solidFill>
                <a:latin typeface="MiSans"/>
                <a:ea typeface="MiSans"/>
              </a:rPr>
              <a:t>逆运动学：关节空间</a:t>
            </a:r>
            <a:r>
              <a:rPr sz="1300" b="0" i="0" dirty="0">
                <a:solidFill>
                  <a:srgbClr val="22271F"/>
                </a:solidFill>
                <a:latin typeface="MiSans"/>
                <a:ea typeface="MiSans"/>
              </a:rPr>
              <a:t> ↔ </a:t>
            </a:r>
            <a:r>
              <a:rPr sz="1300" b="0" i="0" dirty="0" err="1">
                <a:solidFill>
                  <a:srgbClr val="22271F"/>
                </a:solidFill>
                <a:latin typeface="MiSans"/>
                <a:ea typeface="MiSans"/>
              </a:rPr>
              <a:t>笛卡尔空间的映射，多解与奇异位形</a:t>
            </a:r>
            <a:endParaRPr sz="1300" b="0" i="0" dirty="0">
              <a:solidFill>
                <a:srgbClr val="22271F"/>
              </a:solidFill>
              <a:latin typeface="MiSans"/>
              <a:ea typeface="MiSans"/>
            </a:endParaRPr>
          </a:p>
        </p:txBody>
      </p:sp>
      <p:sp>
        <p:nvSpPr>
          <p:cNvPr id="10" name="goalN03"/>
          <p:cNvSpPr txBox="1"/>
          <p:nvPr/>
        </p:nvSpPr>
        <p:spPr>
          <a:xfrm>
            <a:off x="713232" y="3419856"/>
            <a:ext cx="548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75B26"/>
                </a:solidFill>
                <a:latin typeface="MiSans"/>
                <a:ea typeface="MiSans"/>
              </a:rPr>
              <a:t>03</a:t>
            </a:r>
          </a:p>
        </p:txBody>
      </p:sp>
      <p:sp>
        <p:nvSpPr>
          <p:cNvPr id="11" name="goalT03"/>
          <p:cNvSpPr txBox="1"/>
          <p:nvPr/>
        </p:nvSpPr>
        <p:spPr>
          <a:xfrm>
            <a:off x="1371600" y="3419856"/>
            <a:ext cx="51206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22271F"/>
                </a:solidFill>
                <a:latin typeface="MiSans"/>
                <a:ea typeface="MiSans"/>
              </a:rPr>
              <a:t>会用示教器交互：点动操作，并完成工具坐标系 / 用户坐标系的标定</a:t>
            </a:r>
          </a:p>
        </p:txBody>
      </p:sp>
      <p:sp>
        <p:nvSpPr>
          <p:cNvPr id="12" name="goalN04"/>
          <p:cNvSpPr txBox="1"/>
          <p:nvPr/>
        </p:nvSpPr>
        <p:spPr>
          <a:xfrm>
            <a:off x="713232" y="4261104"/>
            <a:ext cx="548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75B26"/>
                </a:solidFill>
                <a:latin typeface="MiSans"/>
                <a:ea typeface="MiSans"/>
              </a:rPr>
              <a:t>04</a:t>
            </a:r>
          </a:p>
        </p:txBody>
      </p:sp>
      <p:sp>
        <p:nvSpPr>
          <p:cNvPr id="13" name="goalT04"/>
          <p:cNvSpPr txBox="1"/>
          <p:nvPr/>
        </p:nvSpPr>
        <p:spPr>
          <a:xfrm>
            <a:off x="1371600" y="4261104"/>
            <a:ext cx="51206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 dirty="0" err="1">
                <a:solidFill>
                  <a:srgbClr val="22271F"/>
                </a:solidFill>
                <a:latin typeface="MiSans"/>
                <a:ea typeface="MiSans"/>
              </a:rPr>
              <a:t>会编示教程序：用</a:t>
            </a:r>
            <a:r>
              <a:rPr sz="1300" b="0" i="0" dirty="0">
                <a:solidFill>
                  <a:srgbClr val="22271F"/>
                </a:solidFill>
                <a:latin typeface="MiSans"/>
                <a:ea typeface="MiSans"/>
              </a:rPr>
              <a:t> MOVJ </a:t>
            </a:r>
            <a:r>
              <a:rPr sz="1300" b="0" i="0" dirty="0" err="1">
                <a:solidFill>
                  <a:srgbClr val="22271F"/>
                </a:solidFill>
                <a:latin typeface="MiSans"/>
                <a:ea typeface="MiSans"/>
              </a:rPr>
              <a:t>指令串联多个</a:t>
            </a:r>
            <a:r>
              <a:rPr sz="1300" b="0" i="0" dirty="0">
                <a:solidFill>
                  <a:srgbClr val="22271F"/>
                </a:solidFill>
                <a:latin typeface="MiSans"/>
                <a:ea typeface="MiSans"/>
              </a:rPr>
              <a:t> pose </a:t>
            </a:r>
            <a:r>
              <a:rPr sz="1300" b="0" i="0" dirty="0" err="1">
                <a:solidFill>
                  <a:srgbClr val="22271F"/>
                </a:solidFill>
                <a:latin typeface="MiSans"/>
                <a:ea typeface="MiSans"/>
              </a:rPr>
              <a:t>位姿，连续执行形成作业动画</a:t>
            </a:r>
            <a:endParaRPr sz="1300" b="0" i="0" dirty="0">
              <a:solidFill>
                <a:srgbClr val="22271F"/>
              </a:solidFill>
              <a:latin typeface="MiSans"/>
              <a:ea typeface="MiSans"/>
            </a:endParaRPr>
          </a:p>
        </p:txBody>
      </p:sp>
      <p:sp>
        <p:nvSpPr>
          <p:cNvPr id="14" name="goalN05"/>
          <p:cNvSpPr txBox="1"/>
          <p:nvPr/>
        </p:nvSpPr>
        <p:spPr>
          <a:xfrm>
            <a:off x="713232" y="5102352"/>
            <a:ext cx="548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75B26"/>
                </a:solidFill>
                <a:latin typeface="MiSans"/>
                <a:ea typeface="MiSans"/>
              </a:rPr>
              <a:t>05</a:t>
            </a:r>
          </a:p>
        </p:txBody>
      </p:sp>
      <p:sp>
        <p:nvSpPr>
          <p:cNvPr id="15" name="goalT05"/>
          <p:cNvSpPr txBox="1"/>
          <p:nvPr/>
        </p:nvSpPr>
        <p:spPr>
          <a:xfrm>
            <a:off x="1371600" y="5102352"/>
            <a:ext cx="51206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22271F"/>
                </a:solidFill>
                <a:latin typeface="MiSans"/>
                <a:ea typeface="MiSans"/>
              </a:rPr>
              <a:t>会做定量分析：末端轨迹分析 + 可达区域分析，评估机器人作业能力</a:t>
            </a:r>
          </a:p>
        </p:txBody>
      </p:sp>
      <p:sp>
        <p:nvSpPr>
          <p:cNvPr id="16" name="midRule"/>
          <p:cNvSpPr/>
          <p:nvPr/>
        </p:nvSpPr>
        <p:spPr>
          <a:xfrm>
            <a:off x="6501384" y="1472184"/>
            <a:ext cx="10058" cy="4745736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hyHead"/>
          <p:cNvSpPr txBox="1"/>
          <p:nvPr/>
        </p:nvSpPr>
        <p:spPr>
          <a:xfrm>
            <a:off x="6803136" y="1472184"/>
            <a:ext cx="467258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为什么这样定目标？</a:t>
            </a:r>
          </a:p>
        </p:txBody>
      </p:sp>
      <p:sp>
        <p:nvSpPr>
          <p:cNvPr id="18" name="whyBox"/>
          <p:cNvSpPr/>
          <p:nvPr/>
        </p:nvSpPr>
        <p:spPr>
          <a:xfrm>
            <a:off x="6803136" y="1828800"/>
            <a:ext cx="4672584" cy="237744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hyTxt"/>
          <p:cNvSpPr txBox="1"/>
          <p:nvPr/>
        </p:nvSpPr>
        <p:spPr>
          <a:xfrm>
            <a:off x="7013448" y="2002536"/>
            <a:ext cx="4270248" cy="2057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四条实验要求 a~d 正好覆盖“交互 → 编程 → 分析”的完整工程闭环：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先在示教器上会操作（a），再会编一套连续动作（b），最后会用轨迹与可达区域数据评估机器人的作业能力（c、d）——这正是工业现场示教工程师的真实工作流。</a:t>
            </a:r>
          </a:p>
        </p:txBody>
      </p:sp>
      <p:sp>
        <p:nvSpPr>
          <p:cNvPr id="20" name="coNote"/>
          <p:cNvSpPr txBox="1"/>
          <p:nvPr/>
        </p:nvSpPr>
        <p:spPr>
          <a:xfrm>
            <a:off x="6803136" y="4526280"/>
            <a:ext cx="4672584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课程定位：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计算机图形与动画 · 机械臂仿真实验系列 · 实验一（8 学时）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模块与目标：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课程模块 CM11，支撑课程目标 CO4（服务 CO1 / CO3）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先修基础：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线性代数（矩阵运算）、基础编程（JavaScript）</a:t>
            </a:r>
          </a:p>
        </p:txBody>
      </p:sp>
      <p:sp>
        <p:nvSpPr>
          <p:cNvPr id="21" name="srcNote"/>
          <p:cNvSpPr txBox="1"/>
          <p:nvPr/>
        </p:nvSpPr>
        <p:spPr>
          <a:xfrm>
            <a:off x="6803136" y="6144768"/>
            <a:ext cx="4672584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7A8072"/>
                </a:solidFill>
                <a:latin typeface="MiSans"/>
                <a:ea typeface="MiSans"/>
              </a:rPr>
              <a:t>依据：《实验项目规划信息》实验项目 1（修订）</a:t>
            </a:r>
          </a:p>
        </p:txBody>
      </p:sp>
      <p:sp>
        <p:nvSpPr>
          <p:cNvPr id="22" name="footerL"/>
          <p:cNvSpPr txBox="1"/>
          <p:nvPr/>
        </p:nvSpPr>
        <p:spPr>
          <a:xfrm>
            <a:off x="713232" y="6528816"/>
            <a:ext cx="5084064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</a:p>
        </p:txBody>
      </p:sp>
      <p:sp>
        <p:nvSpPr>
          <p:cNvPr id="23" name="footerR"/>
          <p:cNvSpPr txBox="1"/>
          <p:nvPr/>
        </p:nvSpPr>
        <p:spPr>
          <a:xfrm>
            <a:off x="10213848" y="6528816"/>
            <a:ext cx="1271016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A8072"/>
                </a:solidFill>
                <a:latin typeface="MiSans"/>
                <a:ea typeface="MiSans"/>
              </a:rPr>
              <a:t>11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3" name="pageTopic"/>
          <p:cNvSpPr txBox="1"/>
          <p:nvPr/>
        </p:nvSpPr>
        <p:spPr>
          <a:xfrm>
            <a:off x="7114032" y="384048"/>
            <a:ext cx="437083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实验要求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22271F"/>
                </a:solidFill>
                <a:latin typeface="MiSans"/>
                <a:ea typeface="MiSans"/>
              </a:rPr>
              <a:t>实验要求：a ~ d 四项必做任务</a:t>
            </a:r>
          </a:p>
        </p:txBody>
      </p:sp>
      <p:sp>
        <p:nvSpPr>
          <p:cNvPr id="5" name="rule"/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qabox"/>
          <p:cNvSpPr/>
          <p:nvPr/>
        </p:nvSpPr>
        <p:spPr>
          <a:xfrm>
            <a:off x="713232" y="1554480"/>
            <a:ext cx="5330952" cy="2176272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qatag"/>
          <p:cNvSpPr txBox="1"/>
          <p:nvPr/>
        </p:nvSpPr>
        <p:spPr>
          <a:xfrm>
            <a:off x="896112" y="1673352"/>
            <a:ext cx="548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C75B26"/>
                </a:solidFill>
                <a:latin typeface="MiSans"/>
                <a:ea typeface="MiSans"/>
              </a:rPr>
              <a:t>a</a:t>
            </a:r>
          </a:p>
        </p:txBody>
      </p:sp>
      <p:sp>
        <p:nvSpPr>
          <p:cNvPr id="8" name="reqahead"/>
          <p:cNvSpPr txBox="1"/>
          <p:nvPr/>
        </p:nvSpPr>
        <p:spPr>
          <a:xfrm>
            <a:off x="1426464" y="1737360"/>
            <a:ext cx="4434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31523F"/>
                </a:solidFill>
                <a:latin typeface="MiSans"/>
                <a:ea typeface="MiSans"/>
              </a:rPr>
              <a:t>示教器交互与坐标系标定</a:t>
            </a:r>
          </a:p>
        </p:txBody>
      </p:sp>
      <p:sp>
        <p:nvSpPr>
          <p:cNvPr id="9" name="reqabody"/>
          <p:cNvSpPr txBox="1"/>
          <p:nvPr/>
        </p:nvSpPr>
        <p:spPr>
          <a:xfrm>
            <a:off x="1426464" y="2121408"/>
            <a:ext cx="4434840" cy="1508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基于示教器界面完成点动等交互操作；标定工具坐标系（TCP）与用户坐标系（三点法），记录标定数据并验证坐标变换的正确性。</a:t>
            </a:r>
          </a:p>
        </p:txBody>
      </p:sp>
      <p:sp>
        <p:nvSpPr>
          <p:cNvPr id="10" name="reqbbox"/>
          <p:cNvSpPr/>
          <p:nvPr/>
        </p:nvSpPr>
        <p:spPr>
          <a:xfrm>
            <a:off x="6144768" y="1554480"/>
            <a:ext cx="5330952" cy="2176272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qbtag"/>
          <p:cNvSpPr txBox="1"/>
          <p:nvPr/>
        </p:nvSpPr>
        <p:spPr>
          <a:xfrm>
            <a:off x="6327648" y="1673352"/>
            <a:ext cx="548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C75B26"/>
                </a:solidFill>
                <a:latin typeface="MiSans"/>
                <a:ea typeface="MiSans"/>
              </a:rPr>
              <a:t>b</a:t>
            </a:r>
          </a:p>
        </p:txBody>
      </p:sp>
      <p:sp>
        <p:nvSpPr>
          <p:cNvPr id="12" name="reqbhead"/>
          <p:cNvSpPr txBox="1"/>
          <p:nvPr/>
        </p:nvSpPr>
        <p:spPr>
          <a:xfrm>
            <a:off x="6858000" y="1737360"/>
            <a:ext cx="4434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31523F"/>
                </a:solidFill>
                <a:latin typeface="MiSans"/>
                <a:ea typeface="MiSans"/>
              </a:rPr>
              <a:t>示教器编程与连续执行</a:t>
            </a:r>
          </a:p>
        </p:txBody>
      </p:sp>
      <p:sp>
        <p:nvSpPr>
          <p:cNvPr id="13" name="reqbbody"/>
          <p:cNvSpPr txBox="1"/>
          <p:nvPr/>
        </p:nvSpPr>
        <p:spPr>
          <a:xfrm>
            <a:off x="6858000" y="2121408"/>
            <a:ext cx="4434840" cy="1508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编排一套完整动作（拾取物体 / 空中画圆 / 360° 扫描等任选其一）；记录 ≥4 个 pose 位姿，用 MOVJ 指令串联成程序；执行代码，形成连续动画。</a:t>
            </a:r>
          </a:p>
        </p:txBody>
      </p:sp>
      <p:sp>
        <p:nvSpPr>
          <p:cNvPr id="14" name="reqcbox"/>
          <p:cNvSpPr/>
          <p:nvPr/>
        </p:nvSpPr>
        <p:spPr>
          <a:xfrm>
            <a:off x="713232" y="3913632"/>
            <a:ext cx="5330952" cy="2176272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qctag"/>
          <p:cNvSpPr txBox="1"/>
          <p:nvPr/>
        </p:nvSpPr>
        <p:spPr>
          <a:xfrm>
            <a:off x="896112" y="4032504"/>
            <a:ext cx="548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C75B26"/>
                </a:solidFill>
                <a:latin typeface="MiSans"/>
                <a:ea typeface="MiSans"/>
              </a:rPr>
              <a:t>c</a:t>
            </a:r>
          </a:p>
        </p:txBody>
      </p:sp>
      <p:sp>
        <p:nvSpPr>
          <p:cNvPr id="16" name="reqchead"/>
          <p:cNvSpPr txBox="1"/>
          <p:nvPr/>
        </p:nvSpPr>
        <p:spPr>
          <a:xfrm>
            <a:off x="1426464" y="4096512"/>
            <a:ext cx="4434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31523F"/>
                </a:solidFill>
                <a:latin typeface="MiSans"/>
                <a:ea typeface="MiSans"/>
              </a:rPr>
              <a:t>轨迹分析</a:t>
            </a:r>
          </a:p>
        </p:txBody>
      </p:sp>
      <p:sp>
        <p:nvSpPr>
          <p:cNvPr id="17" name="reqcbody"/>
          <p:cNvSpPr txBox="1"/>
          <p:nvPr/>
        </p:nvSpPr>
        <p:spPr>
          <a:xfrm>
            <a:off x="1426464" y="4480560"/>
            <a:ext cx="4434840" cy="1508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记录执行过程中的末端 TCP 轨迹数据；绘制轨迹路径图与位置 / 速度-时间曲线，分析插值效果与运动平滑性。</a:t>
            </a:r>
          </a:p>
        </p:txBody>
      </p:sp>
      <p:sp>
        <p:nvSpPr>
          <p:cNvPr id="18" name="reqdbox"/>
          <p:cNvSpPr/>
          <p:nvPr/>
        </p:nvSpPr>
        <p:spPr>
          <a:xfrm>
            <a:off x="6144768" y="3913632"/>
            <a:ext cx="5330952" cy="2176272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qdtag"/>
          <p:cNvSpPr txBox="1"/>
          <p:nvPr/>
        </p:nvSpPr>
        <p:spPr>
          <a:xfrm>
            <a:off x="6327648" y="4032504"/>
            <a:ext cx="548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C75B26"/>
                </a:solidFill>
                <a:latin typeface="MiSans"/>
                <a:ea typeface="MiSans"/>
              </a:rPr>
              <a:t>d</a:t>
            </a:r>
          </a:p>
        </p:txBody>
      </p:sp>
      <p:sp>
        <p:nvSpPr>
          <p:cNvPr id="20" name="reqdhead"/>
          <p:cNvSpPr txBox="1"/>
          <p:nvPr/>
        </p:nvSpPr>
        <p:spPr>
          <a:xfrm>
            <a:off x="6858000" y="4096512"/>
            <a:ext cx="4434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31523F"/>
                </a:solidFill>
                <a:latin typeface="MiSans"/>
                <a:ea typeface="MiSans"/>
              </a:rPr>
              <a:t>可达区域分析</a:t>
            </a:r>
          </a:p>
        </p:txBody>
      </p:sp>
      <p:sp>
        <p:nvSpPr>
          <p:cNvPr id="21" name="reqdbody"/>
          <p:cNvSpPr txBox="1"/>
          <p:nvPr/>
        </p:nvSpPr>
        <p:spPr>
          <a:xfrm>
            <a:off x="6858000" y="4480560"/>
            <a:ext cx="4434840" cy="1508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在关节限位内采样关节角（蒙特卡洛），用 FK 生成 TCP 点云；绘制可达区域图，标注边界与不可达空洞，评估工位布置合理性。</a:t>
            </a:r>
          </a:p>
        </p:txBody>
      </p:sp>
      <p:sp>
        <p:nvSpPr>
          <p:cNvPr id="22" name="reqNote"/>
          <p:cNvSpPr txBox="1"/>
          <p:nvPr/>
        </p:nvSpPr>
        <p:spPr>
          <a:xfrm>
            <a:off x="713232" y="6217920"/>
            <a:ext cx="10771632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22271F"/>
                </a:solidFill>
                <a:latin typeface="MiSans"/>
                <a:ea typeface="MiSans"/>
              </a:rPr>
              <a:t>成果形式：</a:t>
            </a: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可运行工程 + 连续动作动画 + 分析报告（含标定数据、轨迹图、可达区域图）。四项全部完成方可验收（验收清单见最后一章）。</a:t>
            </a:r>
          </a:p>
        </p:txBody>
      </p:sp>
      <p:sp>
        <p:nvSpPr>
          <p:cNvPr id="23" name="footerL"/>
          <p:cNvSpPr txBox="1"/>
          <p:nvPr/>
        </p:nvSpPr>
        <p:spPr>
          <a:xfrm>
            <a:off x="713232" y="6528816"/>
            <a:ext cx="5084064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</a:p>
        </p:txBody>
      </p:sp>
      <p:sp>
        <p:nvSpPr>
          <p:cNvPr id="24" name="footerR"/>
          <p:cNvSpPr txBox="1"/>
          <p:nvPr/>
        </p:nvSpPr>
        <p:spPr>
          <a:xfrm>
            <a:off x="10213848" y="6528816"/>
            <a:ext cx="1271016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A8072"/>
                </a:solidFill>
                <a:latin typeface="MiSans"/>
                <a:ea typeface="MiSans"/>
              </a:rPr>
              <a:t>12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3" name="pageTopic"/>
          <p:cNvSpPr txBox="1"/>
          <p:nvPr/>
        </p:nvSpPr>
        <p:spPr>
          <a:xfrm>
            <a:off x="7114032" y="384048"/>
            <a:ext cx="437083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实验内容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22271F"/>
                </a:solidFill>
                <a:latin typeface="MiSans"/>
                <a:ea typeface="MiSans"/>
              </a:rPr>
              <a:t>实验内容：三条主线 + 一次完整演示</a:t>
            </a:r>
          </a:p>
        </p:txBody>
      </p:sp>
      <p:sp>
        <p:nvSpPr>
          <p:cNvPr id="5" name="rule"/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1box"/>
          <p:cNvSpPr/>
          <p:nvPr/>
        </p:nvSpPr>
        <p:spPr>
          <a:xfrm>
            <a:off x="713232" y="1600200"/>
            <a:ext cx="6766560" cy="969264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1txt"/>
          <p:cNvSpPr txBox="1"/>
          <p:nvPr/>
        </p:nvSpPr>
        <p:spPr>
          <a:xfrm>
            <a:off x="923544" y="1719072"/>
            <a:ext cx="6355080" cy="7498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2271F"/>
                </a:solidFill>
                <a:latin typeface="MiSans"/>
                <a:ea typeface="MiSans"/>
              </a:rPr>
              <a:t>① 开发工具链　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nodejs + http-server 本地服务 · Chrome DevTools 调试回路 · Three.js / WebGL 场景渲染</a:t>
            </a:r>
          </a:p>
        </p:txBody>
      </p:sp>
      <p:sp>
        <p:nvSpPr>
          <p:cNvPr id="8" name="st1arr"/>
          <p:cNvSpPr txBox="1"/>
          <p:nvPr/>
        </p:nvSpPr>
        <p:spPr>
          <a:xfrm>
            <a:off x="3977639" y="2532888"/>
            <a:ext cx="274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31523F"/>
                </a:solidFill>
                <a:latin typeface="MiSans"/>
                <a:ea typeface="MiSans"/>
              </a:rPr>
              <a:t>▼</a:t>
            </a:r>
          </a:p>
        </p:txBody>
      </p:sp>
      <p:sp>
        <p:nvSpPr>
          <p:cNvPr id="9" name="st2box"/>
          <p:cNvSpPr/>
          <p:nvPr/>
        </p:nvSpPr>
        <p:spPr>
          <a:xfrm>
            <a:off x="713232" y="2734056"/>
            <a:ext cx="6766560" cy="969264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2txt"/>
          <p:cNvSpPr txBox="1"/>
          <p:nvPr/>
        </p:nvSpPr>
        <p:spPr>
          <a:xfrm>
            <a:off x="923544" y="2852928"/>
            <a:ext cx="6355080" cy="7498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2271F"/>
                </a:solidFill>
                <a:latin typeface="MiSans"/>
                <a:ea typeface="MiSans"/>
              </a:rPr>
              <a:t>② 模型数据介绍　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归一化关节化资产包（GLB + joint_map.json + URDF 对照）· link–joint 层级 · 关节限位数据</a:t>
            </a:r>
          </a:p>
        </p:txBody>
      </p:sp>
      <p:sp>
        <p:nvSpPr>
          <p:cNvPr id="11" name="st2arr"/>
          <p:cNvSpPr txBox="1"/>
          <p:nvPr/>
        </p:nvSpPr>
        <p:spPr>
          <a:xfrm>
            <a:off x="3977639" y="3666744"/>
            <a:ext cx="274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31523F"/>
                </a:solidFill>
                <a:latin typeface="MiSans"/>
                <a:ea typeface="MiSans"/>
              </a:rPr>
              <a:t>▼</a:t>
            </a:r>
          </a:p>
        </p:txBody>
      </p:sp>
      <p:sp>
        <p:nvSpPr>
          <p:cNvPr id="12" name="st3box"/>
          <p:cNvSpPr/>
          <p:nvPr/>
        </p:nvSpPr>
        <p:spPr>
          <a:xfrm>
            <a:off x="713232" y="3867912"/>
            <a:ext cx="6766560" cy="969264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3txt"/>
          <p:cNvSpPr txBox="1"/>
          <p:nvPr/>
        </p:nvSpPr>
        <p:spPr>
          <a:xfrm>
            <a:off x="923544" y="3986784"/>
            <a:ext cx="6355080" cy="7498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2271F"/>
                </a:solidFill>
                <a:latin typeface="MiSans"/>
                <a:ea typeface="MiSans"/>
              </a:rPr>
              <a:t>③ 程序框架　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robotLoader 一次 traverse 建关节表 · 限位钳制驱动 · 示教器面板 · 末端位姿实时显示</a:t>
            </a:r>
          </a:p>
        </p:txBody>
      </p:sp>
      <p:sp>
        <p:nvSpPr>
          <p:cNvPr id="14" name="st3arr"/>
          <p:cNvSpPr txBox="1"/>
          <p:nvPr/>
        </p:nvSpPr>
        <p:spPr>
          <a:xfrm>
            <a:off x="3977639" y="4800600"/>
            <a:ext cx="274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31523F"/>
                </a:solidFill>
                <a:latin typeface="MiSans"/>
                <a:ea typeface="MiSans"/>
              </a:rPr>
              <a:t>▼</a:t>
            </a:r>
          </a:p>
        </p:txBody>
      </p:sp>
      <p:sp>
        <p:nvSpPr>
          <p:cNvPr id="15" name="st4box"/>
          <p:cNvSpPr/>
          <p:nvPr/>
        </p:nvSpPr>
        <p:spPr>
          <a:xfrm>
            <a:off x="713232" y="5001768"/>
            <a:ext cx="6766560" cy="969264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4txt"/>
          <p:cNvSpPr txBox="1"/>
          <p:nvPr/>
        </p:nvSpPr>
        <p:spPr>
          <a:xfrm>
            <a:off x="923544" y="5120640"/>
            <a:ext cx="6355080" cy="7498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2271F"/>
                </a:solidFill>
                <a:latin typeface="MiSans"/>
                <a:ea typeface="MiSans"/>
              </a:rPr>
              <a:t>④ 分析与演示　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TCP 轨迹记录与可达区域采样 · 五步课堂演示 · 常见错误排查 · 验收清单</a:t>
            </a:r>
          </a:p>
        </p:txBody>
      </p:sp>
      <p:sp>
        <p:nvSpPr>
          <p:cNvPr id="17" name="midRule"/>
          <p:cNvSpPr/>
          <p:nvPr/>
        </p:nvSpPr>
        <p:spPr>
          <a:xfrm>
            <a:off x="7818120" y="1472184"/>
            <a:ext cx="10058" cy="4745736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teHead"/>
          <p:cNvSpPr txBox="1"/>
          <p:nvPr/>
        </p:nvSpPr>
        <p:spPr>
          <a:xfrm>
            <a:off x="8119872" y="1472184"/>
            <a:ext cx="335584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建议学习顺序</a:t>
            </a:r>
          </a:p>
        </p:txBody>
      </p:sp>
      <p:sp>
        <p:nvSpPr>
          <p:cNvPr id="19" name="routeBody"/>
          <p:cNvSpPr txBox="1"/>
          <p:nvPr/>
        </p:nvSpPr>
        <p:spPr>
          <a:xfrm>
            <a:off x="8119872" y="1828800"/>
            <a:ext cx="3355848" cy="3291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工具链先行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：环境跑通再谈模型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模型数据随后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：看懂 link–joint 树与限位表，才知道程序在驱动什么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程序框架落地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：加载 → 驱动 → 面板 → 位姿验证，每步都有关口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22271F"/>
                </a:solidFill>
                <a:latin typeface="MiSans"/>
                <a:ea typeface="MiSans"/>
              </a:rPr>
              <a:t>分析演示收尾</a:t>
            </a:r>
            <a:r>
              <a:rPr sz="1250" b="0" i="0">
                <a:solidFill>
                  <a:srgbClr val="7A8072"/>
                </a:solidFill>
                <a:latin typeface="MiSans"/>
                <a:ea typeface="MiSans"/>
              </a:rPr>
              <a:t>：用数据说话，对照验收清单自查</a:t>
            </a:r>
          </a:p>
        </p:txBody>
      </p:sp>
      <p:sp>
        <p:nvSpPr>
          <p:cNvPr id="20" name="srcNote"/>
          <p:cNvSpPr txBox="1"/>
          <p:nvPr/>
        </p:nvSpPr>
        <p:spPr>
          <a:xfrm>
            <a:off x="8119872" y="6144768"/>
            <a:ext cx="335584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7A8072"/>
                </a:solidFill>
                <a:latin typeface="MiSans"/>
                <a:ea typeface="MiSans"/>
              </a:rPr>
              <a:t>每一节都对应可立即动手的小任务</a:t>
            </a:r>
          </a:p>
        </p:txBody>
      </p:sp>
      <p:sp>
        <p:nvSpPr>
          <p:cNvPr id="21" name="footerL"/>
          <p:cNvSpPr txBox="1"/>
          <p:nvPr/>
        </p:nvSpPr>
        <p:spPr>
          <a:xfrm>
            <a:off x="713232" y="6528816"/>
            <a:ext cx="5084064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</a:p>
        </p:txBody>
      </p:sp>
      <p:sp>
        <p:nvSpPr>
          <p:cNvPr id="22" name="footerR"/>
          <p:cNvSpPr txBox="1"/>
          <p:nvPr/>
        </p:nvSpPr>
        <p:spPr>
          <a:xfrm>
            <a:off x="10213848" y="6528816"/>
            <a:ext cx="1271016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A8072"/>
                </a:solidFill>
                <a:latin typeface="MiSans"/>
                <a:ea typeface="MiSans"/>
              </a:rPr>
              <a:t>13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开发环境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开发工具链：本地服务器 + 浏览器调试回路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flowHead"/>
          <p:cNvSpPr txBox="1"/>
          <p:nvPr/>
        </p:nvSpPr>
        <p:spPr>
          <a:xfrm>
            <a:off x="711200" y="1498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最小开发回路</a:t>
            </a:r>
            <a:endParaRPr lang="en-US" sz="1500" noProof="1"/>
          </a:p>
        </p:txBody>
      </p:sp>
      <p:sp>
        <p:nvSpPr>
          <p:cNvPr id="7" name="f1"/>
          <p:cNvSpPr/>
          <p:nvPr/>
        </p:nvSpPr>
        <p:spPr>
          <a:xfrm>
            <a:off x="711200" y="1905000"/>
            <a:ext cx="2286000" cy="660400"/>
          </a:xfrm>
          <a:prstGeom prst="rect">
            <a:avLst/>
          </a:prstGeom>
          <a:solidFill>
            <a:srgbClr val="F1EDE2"/>
          </a:solidFill>
          <a:ln w="19050">
            <a:solidFill>
              <a:srgbClr val="31523F"/>
            </a:solidFill>
          </a:ln>
        </p:spPr>
      </p:sp>
      <p:sp>
        <p:nvSpPr>
          <p:cNvPr id="8" name="f1txt"/>
          <p:cNvSpPr txBox="1"/>
          <p:nvPr/>
        </p:nvSpPr>
        <p:spPr>
          <a:xfrm>
            <a:off x="812800" y="2006600"/>
            <a:ext cx="208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① 编写代码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HTML / JS / 模型文件</a:t>
            </a:r>
            <a:endParaRPr lang="en-US" sz="1250" noProof="1"/>
          </a:p>
        </p:txBody>
      </p:sp>
      <p:sp>
        <p:nvSpPr>
          <p:cNvPr id="9" name="f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eyJ2aWV3Qm94IjpbMzYsNF0sInBvaW50cyI6IjAsMiAzNiwyIiwiY3VydmUiOiJzaGFycCJ9</pptd:line>
              </p:ext>
            </p:extLst>
          </p:nvPr>
        </p:nvSpPr>
        <p:spPr>
          <a:xfrm>
            <a:off x="3048000" y="2184400"/>
            <a:ext cx="457200" cy="50800"/>
          </a:xfrm>
          <a:custGeom>
            <a:avLst/>
            <a:gdLst/>
            <a:ahLst/>
            <a:cxnLst/>
            <a:rect l="l" t="t" r="r" b="b"/>
            <a:pathLst>
              <a:path w="36" h="4">
                <a:moveTo>
                  <a:pt x="0" y="2"/>
                </a:moveTo>
                <a:lnTo>
                  <a:pt x="36" y="2"/>
                </a:lnTo>
              </a:path>
            </a:pathLst>
          </a:custGeom>
          <a:noFill/>
          <a:ln w="19050">
            <a:solidFill>
              <a:srgbClr val="7A8072"/>
            </a:solidFill>
            <a:tailEnd type="stealth"/>
          </a:ln>
        </p:spPr>
      </p:sp>
      <p:sp>
        <p:nvSpPr>
          <p:cNvPr id="10" name="f2"/>
          <p:cNvSpPr/>
          <p:nvPr/>
        </p:nvSpPr>
        <p:spPr>
          <a:xfrm>
            <a:off x="3556000" y="1905000"/>
            <a:ext cx="2286000" cy="660400"/>
          </a:xfrm>
          <a:prstGeom prst="rect">
            <a:avLst/>
          </a:prstGeom>
          <a:solidFill>
            <a:srgbClr val="F1EDE2"/>
          </a:solidFill>
          <a:ln w="19050">
            <a:solidFill>
              <a:srgbClr val="31523F"/>
            </a:solidFill>
          </a:ln>
        </p:spPr>
      </p:sp>
      <p:sp>
        <p:nvSpPr>
          <p:cNvPr id="11" name="f2txt"/>
          <p:cNvSpPr txBox="1"/>
          <p:nvPr/>
        </p:nvSpPr>
        <p:spPr>
          <a:xfrm>
            <a:off x="3657600" y="2006600"/>
            <a:ext cx="208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② 本地服务器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Node.js http-server</a:t>
            </a:r>
            <a:endParaRPr lang="en-US" sz="1250" noProof="1"/>
          </a:p>
        </p:txBody>
      </p:sp>
      <p:sp>
        <p:nvSpPr>
          <p:cNvPr id="12" name="f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eyJ2aWV3Qm94IjpbNCwzMF0sInBvaW50cyI6IjIsMCAyLDMwIiwiY3VydmUiOiJzaGFycCJ9</pptd:line>
              </p:ext>
            </p:extLst>
          </p:nvPr>
        </p:nvSpPr>
        <p:spPr>
          <a:xfrm>
            <a:off x="1854200" y="2616200"/>
            <a:ext cx="50800" cy="381000"/>
          </a:xfrm>
          <a:custGeom>
            <a:avLst/>
            <a:gdLst/>
            <a:ahLst/>
            <a:cxnLst/>
            <a:rect l="l" t="t" r="r" b="b"/>
            <a:pathLst>
              <a:path w="4" h="30">
                <a:moveTo>
                  <a:pt x="2" y="0"/>
                </a:moveTo>
                <a:lnTo>
                  <a:pt x="2" y="30"/>
                </a:lnTo>
              </a:path>
            </a:pathLst>
          </a:custGeom>
          <a:noFill/>
          <a:ln w="19050">
            <a:solidFill>
              <a:srgbClr val="7A8072"/>
            </a:solidFill>
            <a:tailEnd type="stealth"/>
          </a:ln>
        </p:spPr>
      </p:sp>
      <p:sp>
        <p:nvSpPr>
          <p:cNvPr id="13" name="f3"/>
          <p:cNvSpPr/>
          <p:nvPr/>
        </p:nvSpPr>
        <p:spPr>
          <a:xfrm>
            <a:off x="711200" y="3048000"/>
            <a:ext cx="2286000" cy="660400"/>
          </a:xfrm>
          <a:prstGeom prst="rect">
            <a:avLst/>
          </a:prstGeom>
          <a:solidFill>
            <a:srgbClr val="F1EDE2"/>
          </a:solidFill>
          <a:ln w="19050">
            <a:solidFill>
              <a:srgbClr val="31523F"/>
            </a:solidFill>
          </a:ln>
        </p:spPr>
      </p:sp>
      <p:sp>
        <p:nvSpPr>
          <p:cNvPr id="14" name="f3txt"/>
          <p:cNvSpPr txBox="1"/>
          <p:nvPr/>
        </p:nvSpPr>
        <p:spPr>
          <a:xfrm>
            <a:off x="812800" y="3149600"/>
            <a:ext cx="208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③ 浏览器渲染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Chrome + WebGL</a:t>
            </a:r>
            <a:endParaRPr lang="en-US" sz="1250" noProof="1"/>
          </a:p>
        </p:txBody>
      </p:sp>
      <p:sp>
        <p:nvSpPr>
          <p:cNvPr id="15" name="f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eyJ2aWV3Qm94IjpbMzYsNF0sInBvaW50cyI6IjAsMiAzNiwyIiwiY3VydmUiOiJzaGFycCJ9</pptd:line>
              </p:ext>
            </p:extLst>
          </p:nvPr>
        </p:nvSpPr>
        <p:spPr>
          <a:xfrm>
            <a:off x="3048000" y="3327400"/>
            <a:ext cx="457200" cy="50800"/>
          </a:xfrm>
          <a:custGeom>
            <a:avLst/>
            <a:gdLst/>
            <a:ahLst/>
            <a:cxnLst/>
            <a:rect l="l" t="t" r="r" b="b"/>
            <a:pathLst>
              <a:path w="36" h="4">
                <a:moveTo>
                  <a:pt x="0" y="2"/>
                </a:moveTo>
                <a:lnTo>
                  <a:pt x="36" y="2"/>
                </a:lnTo>
              </a:path>
            </a:pathLst>
          </a:custGeom>
          <a:noFill/>
          <a:ln w="19050">
            <a:solidFill>
              <a:srgbClr val="7A8072"/>
            </a:solidFill>
            <a:tailEnd type="stealth"/>
          </a:ln>
        </p:spPr>
      </p:sp>
      <p:sp>
        <p:nvSpPr>
          <p:cNvPr id="16" name="f4"/>
          <p:cNvSpPr/>
          <p:nvPr/>
        </p:nvSpPr>
        <p:spPr>
          <a:xfrm>
            <a:off x="3556000" y="3048000"/>
            <a:ext cx="2286000" cy="660400"/>
          </a:xfrm>
          <a:prstGeom prst="rect">
            <a:avLst/>
          </a:prstGeom>
          <a:solidFill>
            <a:srgbClr val="F1EDE2"/>
          </a:solidFill>
          <a:ln w="19050">
            <a:solidFill>
              <a:srgbClr val="31523F"/>
            </a:solidFill>
          </a:ln>
        </p:spPr>
      </p:sp>
      <p:sp>
        <p:nvSpPr>
          <p:cNvPr id="17" name="f4txt"/>
          <p:cNvSpPr txBox="1"/>
          <p:nvPr/>
        </p:nvSpPr>
        <p:spPr>
          <a:xfrm>
            <a:off x="3657600" y="3149600"/>
            <a:ext cx="208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④ DevTools 调试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200"/>
              </a:spcBef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定位问题 → 回到 ①</a:t>
            </a:r>
            <a:endParaRPr lang="en-US" sz="1250" noProof="1"/>
          </a:p>
        </p:txBody>
      </p:sp>
      <p:sp>
        <p:nvSpPr>
          <p:cNvPr id="18" name="loopBack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eyJ2aWV3Qm94IjpbMjAsNjBdLCJwb2ludHMiOiIyMCw2MCAwLDYwIDAsMCAxNiwwIiwiY3VydmUiOiJzaGFycCJ9</pptd:line>
              </p:ext>
            </p:extLst>
          </p:nvPr>
        </p:nvSpPr>
        <p:spPr>
          <a:xfrm>
            <a:off x="762000" y="2235200"/>
            <a:ext cx="254000" cy="762000"/>
          </a:xfrm>
          <a:custGeom>
            <a:avLst/>
            <a:gdLst/>
            <a:ahLst/>
            <a:cxnLst/>
            <a:rect l="l" t="t" r="r" b="b"/>
            <a:pathLst>
              <a:path w="20" h="60">
                <a:moveTo>
                  <a:pt x="20" y="60"/>
                </a:moveTo>
                <a:lnTo>
                  <a:pt x="0" y="60"/>
                </a:lnTo>
                <a:lnTo>
                  <a:pt x="0" y="0"/>
                </a:lnTo>
                <a:lnTo>
                  <a:pt x="16" y="0"/>
                </a:lnTo>
              </a:path>
            </a:pathLst>
          </a:custGeom>
          <a:noFill/>
          <a:ln w="19050">
            <a:solidFill>
              <a:srgbClr val="7A8072"/>
            </a:solidFill>
            <a:prstDash val="dash"/>
            <a:tailEnd type="stealth"/>
          </a:ln>
        </p:spPr>
      </p:sp>
      <p:sp>
        <p:nvSpPr>
          <p:cNvPr id="19" name="flowNote"/>
          <p:cNvSpPr txBox="1"/>
          <p:nvPr/>
        </p:nvSpPr>
        <p:spPr>
          <a:xfrm>
            <a:off x="711200" y="3937000"/>
            <a:ext cx="5130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为什么不能双击打开 HTML？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ES Module、模型文件加载受浏览器同源策略限制，file:// 协议下会被拦截。必须通过 http://localhost 访问，这也是 WebGL 内容部署的标准方式。</a:t>
            </a:r>
            <a:endParaRPr lang="en-US" sz="1250" noProof="1"/>
          </a:p>
        </p:txBody>
      </p:sp>
      <p:sp>
        <p:nvSpPr>
          <p:cNvPr id="20" name="codePanel"/>
          <p:cNvSpPr/>
          <p:nvPr/>
        </p:nvSpPr>
        <p:spPr>
          <a:xfrm>
            <a:off x="6350000" y="1498600"/>
            <a:ext cx="5130800" cy="16510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21" name="codeTxt"/>
          <p:cNvSpPr txBox="1"/>
          <p:nvPr/>
        </p:nvSpPr>
        <p:spPr>
          <a:xfrm>
            <a:off x="6553200" y="1625600"/>
            <a:ext cx="4724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8FA98F"/>
                </a:solidFill>
                <a:latin typeface="Consolas"/>
                <a:ea typeface="MiSans"/>
              </a:rPr>
              <a:t># 安装并启动本地服务器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E9E5D7"/>
                </a:solidFill>
                <a:latin typeface="Consolas"/>
                <a:ea typeface="MiSans"/>
              </a:rPr>
              <a:t>npm install -g http-server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E9E5D7"/>
                </a:solidFill>
                <a:latin typeface="Consolas"/>
                <a:ea typeface="MiSans"/>
              </a:rPr>
              <a:t>cd robot-arm-demo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E9E5D7"/>
                </a:solidFill>
                <a:latin typeface="Consolas"/>
                <a:ea typeface="MiSans"/>
              </a:rPr>
              <a:t>http-server -p 8080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E9E5D7"/>
                </a:solidFill>
                <a:latin typeface="Consolas"/>
                <a:ea typeface="MiSans"/>
              </a:rPr>
              <a:t> 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8FA98F"/>
                </a:solidFill>
                <a:latin typeface="Consolas"/>
                <a:ea typeface="MiSans"/>
              </a:rPr>
              <a:t># 浏览器访问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8FA98F"/>
                </a:solidFill>
                <a:latin typeface="Consolas"/>
                <a:ea typeface="MiSans"/>
              </a:rPr>
              <a:t># http://localhost:8080</a:t>
            </a:r>
            <a:endParaRPr lang="en-US" sz="1150" noProof="1"/>
          </a:p>
        </p:txBody>
      </p:sp>
      <p:sp>
        <p:nvSpPr>
          <p:cNvPr id="22" name="dtHead"/>
          <p:cNvSpPr txBox="1"/>
          <p:nvPr/>
        </p:nvSpPr>
        <p:spPr>
          <a:xfrm>
            <a:off x="6350000" y="34036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Chrome DevTools 四项必备技能</a:t>
            </a:r>
            <a:endParaRPr lang="en-US" sz="1500" noProof="1"/>
          </a:p>
        </p:txBody>
      </p:sp>
      <p:sp>
        <p:nvSpPr>
          <p:cNvPr id="23" name="dtList"/>
          <p:cNvSpPr txBox="1"/>
          <p:nvPr/>
        </p:nvSpPr>
        <p:spPr>
          <a:xfrm>
            <a:off x="6350000" y="3759200"/>
            <a:ext cx="51308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错误动态调试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：Console 报错定位 + Sources 断点单步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源码查看与分析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：格式化压缩代码，读懂第三方库行为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网络加载分析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：Network 面板确认模型 / 贴图是否 404、是否跨域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元素结构分析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：Elements 面板检查 canvas 与 UI 节点树</a:t>
            </a:r>
            <a:endParaRPr lang="en-US" sz="13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7A8072"/>
                </a:solidFill>
                <a:latin typeface="MiSans"/>
                <a:ea typeface="MiSans"/>
              </a:rPr>
              <a:t>提示：在渲染循环里用 console.log 打印关节矩阵，是最直接的 FK 调试手段。</a:t>
            </a:r>
            <a:endParaRPr lang="en-US" sz="1300" noProof="1"/>
          </a:p>
        </p:txBody>
      </p:sp>
      <p:sp>
        <p:nvSpPr>
          <p:cNvPr id="24" name="srcNote"/>
          <p:cNvSpPr txBox="1"/>
          <p:nvPr/>
        </p:nvSpPr>
        <p:spPr>
          <a:xfrm>
            <a:off x="6350000" y="6070600"/>
            <a:ext cx="5130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对应实验内容 1）、2）</a:t>
            </a:r>
            <a:endParaRPr lang="en-US" sz="1050" noProof="1"/>
          </a:p>
        </p:txBody>
      </p:sp>
      <p:sp>
        <p:nvSpPr>
          <p:cNvPr id="25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6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14 / 27</a:t>
            </a:r>
            <a:endParaRPr lang="en-US" sz="10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B40F4E-0A2F-432A-A234-562CAB47D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73"/>
            <a:ext cx="12192000" cy="575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1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Three.js 框架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场景树：既是图形学骨架，也是运动学骨架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codePanel"/>
          <p:cNvSpPr/>
          <p:nvPr/>
        </p:nvSpPr>
        <p:spPr>
          <a:xfrm>
            <a:off x="711200" y="1498600"/>
            <a:ext cx="5334000" cy="30480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7" name="codeTxt"/>
          <p:cNvSpPr txBox="1"/>
          <p:nvPr/>
        </p:nvSpPr>
        <p:spPr>
          <a:xfrm>
            <a:off x="914400" y="1625600"/>
            <a:ext cx="49276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8FA98F"/>
                </a:solidFill>
                <a:latin typeface="Consolas"/>
                <a:ea typeface="MiSans"/>
              </a:rPr>
              <a:t>// ① 初始化三件套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const renderer = new THREE.WebGLRenderer();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const scene = new THREE.Scene();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const camera = new THREE.PerspectiveCamera(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45, innerWidth/innerHeight, 0.1, 100);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8FA98F"/>
                </a:solidFill>
                <a:latin typeface="Consolas"/>
                <a:ea typeface="MiSans"/>
              </a:rPr>
              <a:t>// ② 视点控制（轨道相机）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const controls = new OrbitControls(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camera, renderer.domElement);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8FA98F"/>
                </a:solidFill>
                <a:latin typeface="Consolas"/>
                <a:ea typeface="MiSans"/>
              </a:rPr>
              <a:t>// ③ 主循环：驱动一切更新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function animate() {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requestAnimationFrame(animate);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controls.update();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renderer.render(scene, camera);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}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animate();</a:t>
            </a:r>
            <a:endParaRPr lang="en-US" sz="1050" noProof="1"/>
          </a:p>
        </p:txBody>
      </p:sp>
      <p:sp>
        <p:nvSpPr>
          <p:cNvPr id="8" name="codeNote"/>
          <p:cNvSpPr txBox="1"/>
          <p:nvPr/>
        </p:nvSpPr>
        <p:spPr>
          <a:xfrm>
            <a:off x="711200" y="4673600"/>
            <a:ext cx="5334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主循环的职责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每帧执行：响应交互 → 更新关节角 → 场景树重算矩阵 → 渲染。Three.js 会在渲染前自动沿场景树计算每个节点的 </a:t>
            </a:r>
            <a:r>
              <a:rPr lang="en-US" sz="1250" noProof="1">
                <a:solidFill>
                  <a:srgbClr val="C75B26"/>
                </a:solidFill>
                <a:latin typeface="MiSans"/>
                <a:ea typeface="MiSans"/>
              </a:rPr>
              <a:t>matrixWorld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，这正是 FK 矩阵连乘的图形学实现。</a:t>
            </a:r>
            <a:endParaRPr lang="en-US" sz="1250" noProof="1"/>
          </a:p>
        </p:txBody>
      </p:sp>
      <p:sp>
        <p:nvSpPr>
          <p:cNvPr id="9" name="tree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eyJ2aWV3Qm94IjpbMSwzNzJdLCJwb2ludHMiOiIwLDAgMCwzNzIiLCJjdXJ2ZSI6InNoYXJwIn0</pptd:line>
              </p:ext>
            </p:extLst>
          </p:nvPr>
        </p:nvSpPr>
        <p:spPr>
          <a:xfrm>
            <a:off x="6400800" y="1498600"/>
            <a:ext cx="12700" cy="4724400"/>
          </a:xfrm>
          <a:custGeom>
            <a:avLst/>
            <a:gdLst/>
            <a:ahLst/>
            <a:cxnLst/>
            <a:rect l="l" t="t" r="r" b="b"/>
            <a:pathLst>
              <a:path w="1" h="372">
                <a:moveTo>
                  <a:pt x="0" y="0"/>
                </a:moveTo>
                <a:lnTo>
                  <a:pt x="0" y="372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0" name="treeHead"/>
          <p:cNvSpPr txBox="1"/>
          <p:nvPr/>
        </p:nvSpPr>
        <p:spPr>
          <a:xfrm>
            <a:off x="6705600" y="14986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基于场景节点的管理模式</a:t>
            </a:r>
            <a:endParaRPr lang="en-US" sz="1500" noProof="1"/>
          </a:p>
        </p:txBody>
      </p:sp>
      <p:sp>
        <p:nvSpPr>
          <p:cNvPr id="11" name="n0"/>
          <p:cNvSpPr/>
          <p:nvPr/>
        </p:nvSpPr>
        <p:spPr>
          <a:xfrm>
            <a:off x="6705600" y="1905000"/>
            <a:ext cx="1651000" cy="4318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2" name="n0txt"/>
          <p:cNvSpPr txBox="1"/>
          <p:nvPr/>
        </p:nvSpPr>
        <p:spPr>
          <a:xfrm>
            <a:off x="6705600" y="19050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271F"/>
                </a:solidFill>
                <a:latin typeface="MiSans"/>
                <a:ea typeface="MiSans"/>
              </a:rPr>
              <a:t>Scene</a:t>
            </a:r>
            <a:endParaRPr lang="en-US" sz="1200" noProof="1"/>
          </a:p>
        </p:txBody>
      </p:sp>
      <p:sp>
        <p:nvSpPr>
          <p:cNvPr id="13" name="e0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eyJ2aWV3Qm94IjpbMiwyMF0sInBvaW50cyI6IjEsMCAxLDIwIiwiY3VydmUiOiJzaGFycCJ9</pptd:line>
              </p:ext>
            </p:extLst>
          </p:nvPr>
        </p:nvSpPr>
        <p:spPr>
          <a:xfrm>
            <a:off x="7518400" y="2336800"/>
            <a:ext cx="25400" cy="254000"/>
          </a:xfrm>
          <a:custGeom>
            <a:avLst/>
            <a:gdLst/>
            <a:ahLst/>
            <a:cxnLst/>
            <a:rect l="l" t="t" r="r" b="b"/>
            <a:pathLst>
              <a:path w="2" h="20">
                <a:moveTo>
                  <a:pt x="1" y="0"/>
                </a:moveTo>
                <a:lnTo>
                  <a:pt x="1" y="20"/>
                </a:lnTo>
              </a:path>
            </a:pathLst>
          </a:custGeom>
          <a:noFill/>
          <a:ln w="19050">
            <a:solidFill>
              <a:srgbClr val="7A8072"/>
            </a:solidFill>
          </a:ln>
        </p:spPr>
      </p:sp>
      <p:sp>
        <p:nvSpPr>
          <p:cNvPr id="14" name="n1"/>
          <p:cNvSpPr/>
          <p:nvPr/>
        </p:nvSpPr>
        <p:spPr>
          <a:xfrm>
            <a:off x="6705600" y="2590800"/>
            <a:ext cx="1651000" cy="4318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5" name="n1txt"/>
          <p:cNvSpPr txBox="1"/>
          <p:nvPr/>
        </p:nvSpPr>
        <p:spPr>
          <a:xfrm>
            <a:off x="6705600" y="2590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base_link</a:t>
            </a:r>
            <a:endParaRPr lang="en-US" sz="1200" noProof="1"/>
          </a:p>
        </p:txBody>
      </p:sp>
      <p:sp>
        <p:nvSpPr>
          <p:cNvPr id="16" name="e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eyJ2aWV3Qm94IjpbMiwyMF0sInBvaW50cyI6IjEsMCAxLDIwIiwiY3VydmUiOiJzaGFycCJ9</pptd:line>
              </p:ext>
            </p:extLst>
          </p:nvPr>
        </p:nvSpPr>
        <p:spPr>
          <a:xfrm>
            <a:off x="7518400" y="3022600"/>
            <a:ext cx="25400" cy="254000"/>
          </a:xfrm>
          <a:custGeom>
            <a:avLst/>
            <a:gdLst/>
            <a:ahLst/>
            <a:cxnLst/>
            <a:rect l="l" t="t" r="r" b="b"/>
            <a:pathLst>
              <a:path w="2" h="20">
                <a:moveTo>
                  <a:pt x="1" y="0"/>
                </a:moveTo>
                <a:lnTo>
                  <a:pt x="1" y="20"/>
                </a:lnTo>
              </a:path>
            </a:pathLst>
          </a:custGeom>
          <a:noFill/>
          <a:ln w="19050">
            <a:solidFill>
              <a:srgbClr val="7A8072"/>
            </a:solidFill>
          </a:ln>
        </p:spPr>
      </p:sp>
      <p:sp>
        <p:nvSpPr>
          <p:cNvPr id="17" name="n2"/>
          <p:cNvSpPr/>
          <p:nvPr/>
        </p:nvSpPr>
        <p:spPr>
          <a:xfrm>
            <a:off x="6705600" y="3276600"/>
            <a:ext cx="1651000" cy="431800"/>
          </a:xfrm>
          <a:prstGeom prst="rect">
            <a:avLst/>
          </a:prstGeom>
          <a:solidFill>
            <a:srgbClr val="F1EDE2"/>
          </a:solidFill>
          <a:ln w="25400">
            <a:solidFill>
              <a:srgbClr val="C75B26"/>
            </a:solidFill>
          </a:ln>
        </p:spPr>
      </p:sp>
      <p:sp>
        <p:nvSpPr>
          <p:cNvPr id="18" name="n2txt"/>
          <p:cNvSpPr txBox="1"/>
          <p:nvPr/>
        </p:nvSpPr>
        <p:spPr>
          <a:xfrm>
            <a:off x="6705600" y="32766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shoulder (J1)</a:t>
            </a:r>
            <a:endParaRPr lang="en-US" sz="1200" noProof="1"/>
          </a:p>
        </p:txBody>
      </p:sp>
      <p:sp>
        <p:nvSpPr>
          <p:cNvPr id="19" name="e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eyJ2aWV3Qm94IjpbMiwyMF0sInBvaW50cyI6IjEsMCAxLDIwIiwiY3VydmUiOiJzaGFycCJ9</pptd:line>
              </p:ext>
            </p:extLst>
          </p:nvPr>
        </p:nvSpPr>
        <p:spPr>
          <a:xfrm>
            <a:off x="7518400" y="3708400"/>
            <a:ext cx="25400" cy="254000"/>
          </a:xfrm>
          <a:custGeom>
            <a:avLst/>
            <a:gdLst/>
            <a:ahLst/>
            <a:cxnLst/>
            <a:rect l="l" t="t" r="r" b="b"/>
            <a:pathLst>
              <a:path w="2" h="20">
                <a:moveTo>
                  <a:pt x="1" y="0"/>
                </a:moveTo>
                <a:lnTo>
                  <a:pt x="1" y="20"/>
                </a:lnTo>
              </a:path>
            </a:pathLst>
          </a:custGeom>
          <a:noFill/>
          <a:ln w="19050">
            <a:solidFill>
              <a:srgbClr val="7A8072"/>
            </a:solidFill>
          </a:ln>
        </p:spPr>
      </p:sp>
      <p:sp>
        <p:nvSpPr>
          <p:cNvPr id="20" name="n3"/>
          <p:cNvSpPr/>
          <p:nvPr/>
        </p:nvSpPr>
        <p:spPr>
          <a:xfrm>
            <a:off x="6705600" y="3962400"/>
            <a:ext cx="1651000" cy="431800"/>
          </a:xfrm>
          <a:prstGeom prst="rect">
            <a:avLst/>
          </a:prstGeom>
          <a:solidFill>
            <a:srgbClr val="F1EDE2"/>
          </a:solidFill>
          <a:ln w="25400">
            <a:solidFill>
              <a:srgbClr val="C75B26"/>
            </a:solidFill>
          </a:ln>
        </p:spPr>
      </p:sp>
      <p:sp>
        <p:nvSpPr>
          <p:cNvPr id="21" name="n3txt"/>
          <p:cNvSpPr txBox="1"/>
          <p:nvPr/>
        </p:nvSpPr>
        <p:spPr>
          <a:xfrm>
            <a:off x="6705600" y="39624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elbow (J2)</a:t>
            </a:r>
            <a:endParaRPr lang="en-US" sz="1200" noProof="1"/>
          </a:p>
        </p:txBody>
      </p:sp>
      <p:sp>
        <p:nvSpPr>
          <p:cNvPr id="22" name="e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eyJ2aWV3Qm94IjpbMiwyMF0sInBvaW50cyI6IjEsMCAxLDIwIiwiY3VydmUiOiJzaGFycCJ9</pptd:line>
              </p:ext>
            </p:extLst>
          </p:nvPr>
        </p:nvSpPr>
        <p:spPr>
          <a:xfrm>
            <a:off x="7518400" y="4394200"/>
            <a:ext cx="25400" cy="254000"/>
          </a:xfrm>
          <a:custGeom>
            <a:avLst/>
            <a:gdLst/>
            <a:ahLst/>
            <a:cxnLst/>
            <a:rect l="l" t="t" r="r" b="b"/>
            <a:pathLst>
              <a:path w="2" h="20">
                <a:moveTo>
                  <a:pt x="1" y="0"/>
                </a:moveTo>
                <a:lnTo>
                  <a:pt x="1" y="20"/>
                </a:lnTo>
              </a:path>
            </a:pathLst>
          </a:custGeom>
          <a:noFill/>
          <a:ln w="19050">
            <a:solidFill>
              <a:srgbClr val="7A8072"/>
            </a:solidFill>
          </a:ln>
        </p:spPr>
      </p:sp>
      <p:sp>
        <p:nvSpPr>
          <p:cNvPr id="23" name="n4"/>
          <p:cNvSpPr/>
          <p:nvPr/>
        </p:nvSpPr>
        <p:spPr>
          <a:xfrm>
            <a:off x="6705600" y="4648200"/>
            <a:ext cx="1651000" cy="4318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24" name="n4txt"/>
          <p:cNvSpPr txBox="1"/>
          <p:nvPr/>
        </p:nvSpPr>
        <p:spPr>
          <a:xfrm>
            <a:off x="6705600" y="46482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tool0 → TCP</a:t>
            </a:r>
            <a:endParaRPr lang="en-US" sz="1200" noProof="1"/>
          </a:p>
        </p:txBody>
      </p:sp>
      <p:sp>
        <p:nvSpPr>
          <p:cNvPr id="25" name="treeNote"/>
          <p:cNvSpPr txBox="1"/>
          <p:nvPr/>
        </p:nvSpPr>
        <p:spPr>
          <a:xfrm>
            <a:off x="8686800" y="1905000"/>
            <a:ext cx="2794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层级即运动链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子节点的位姿 = 父节点位姿 × 自身局部变换。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转动 J2，其下游所有连杆（橙色节点之后）随之运动——这与真实机械臂完全一致。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操作接口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add / remove：挂接与拆卸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traverse：遍历查找关节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rotation / position：局部变换</a:t>
            </a:r>
            <a:endParaRPr lang="en-US" sz="1250" noProof="1"/>
          </a:p>
        </p:txBody>
      </p:sp>
      <p:sp>
        <p:nvSpPr>
          <p:cNvPr id="26" name="srcNote"/>
          <p:cNvSpPr txBox="1"/>
          <p:nvPr/>
        </p:nvSpPr>
        <p:spPr>
          <a:xfrm>
            <a:off x="6705600" y="6045200"/>
            <a:ext cx="4775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对应实验内容 3）</a:t>
            </a:r>
            <a:endParaRPr lang="en-US" sz="1050" noProof="1"/>
          </a:p>
        </p:txBody>
      </p:sp>
      <p:sp>
        <p:nvSpPr>
          <p:cNvPr id="27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8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15 / 27</a:t>
            </a:r>
            <a:endParaRPr lang="en-US" sz="10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素材信息分析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实验素材解析：归一化机械臂资产包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assetHead"/>
          <p:cNvSpPr txBox="1"/>
          <p:nvPr/>
        </p:nvSpPr>
        <p:spPr>
          <a:xfrm>
            <a:off x="711200" y="1473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四件套素材清单（assets/）</a:t>
            </a:r>
            <a:endParaRPr lang="en-US" sz="1500" noProof="1"/>
          </a:p>
        </p:txBody>
      </p:sp>
      <p:graphicFrame>
        <p:nvGraphicFramePr>
          <p:cNvPr id="7" name="assetTable"/>
          <p:cNvGraphicFramePr>
            <a:graphicFrameLocks noGrp="1"/>
          </p:cNvGraphicFramePr>
          <p:nvPr/>
        </p:nvGraphicFramePr>
        <p:xfrm>
          <a:off x="711200" y="1828800"/>
          <a:ext cx="5334000" cy="216408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文件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内容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体量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robot_articulated.glb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场景树 + 网格 + 关节元数据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11.2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joint_map.json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关节参数（枢轴 / 轴向 / 限位）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4.3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robot_spec.yaml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人读规格，单一事实源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2.3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robot.urdf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ROS 生态交换格式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1.9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hainHead"/>
          <p:cNvSpPr txBox="1"/>
          <p:nvPr/>
        </p:nvSpPr>
        <p:spPr>
          <a:xfrm>
            <a:off x="711200" y="4191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节点命名链（GLB 场景树，13 个节点）</a:t>
            </a:r>
            <a:endParaRPr lang="en-US" sz="1500" noProof="1"/>
          </a:p>
        </p:txBody>
      </p:sp>
      <p:sp>
        <p:nvSpPr>
          <p:cNvPr id="9" name="chainPanel"/>
          <p:cNvSpPr/>
          <p:nvPr/>
        </p:nvSpPr>
        <p:spPr>
          <a:xfrm>
            <a:off x="711200" y="4546600"/>
            <a:ext cx="5334000" cy="8382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10" name="chainTxt"/>
          <p:cNvSpPr txBox="1"/>
          <p:nvPr/>
        </p:nvSpPr>
        <p:spPr>
          <a:xfrm>
            <a:off x="863600" y="462280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link_base → J1 → link_1 → J2 → link_2 → J3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→ link_3 → J4 → link_4 → J5 → link_5 → link_flange → tcp</a:t>
            </a:r>
            <a:endParaRPr lang="en-US" sz="1050" noProof="1"/>
          </a:p>
        </p:txBody>
      </p:sp>
      <p:sp>
        <p:nvSpPr>
          <p:cNvPr id="11" name="chainNote"/>
          <p:cNvSpPr txBox="1"/>
          <p:nvPr/>
        </p:nvSpPr>
        <p:spPr>
          <a:xfrm>
            <a:off x="711200" y="5537200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2271F"/>
                </a:solidFill>
                <a:latin typeface="MiSans"/>
                <a:ea typeface="MiSans"/>
              </a:rPr>
              <a:t>三条约定</a:t>
            </a: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：关节角 = 绕节点局部 </a:t>
            </a:r>
            <a:r>
              <a:rPr lang="en-US" sz="1200" noProof="1">
                <a:solidFill>
                  <a:srgbClr val="C75B26"/>
                </a:solidFill>
                <a:latin typeface="MiSans"/>
                <a:ea typeface="MiSans"/>
              </a:rPr>
              <a:t>+Z</a:t>
            </a: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（右手定则）；零位 = 导出静止姿态；J_i 节点的静止旋转即 </a:t>
            </a:r>
            <a:r>
              <a:rPr lang="en-US" sz="1200" noProof="1">
                <a:solidFill>
                  <a:srgbClr val="C75B26"/>
                </a:solidFill>
                <a:latin typeface="MiSans"/>
                <a:ea typeface="MiSans"/>
              </a:rPr>
              <a:t>R_fix</a:t>
            </a: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</p:txBody>
      </p:sp>
      <p:sp>
        <p:nvSpPr>
          <p:cNvPr id="12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350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3" name="jHead"/>
          <p:cNvSpPr txBox="1"/>
          <p:nvPr/>
        </p:nvSpPr>
        <p:spPr>
          <a:xfrm>
            <a:off x="6654800" y="1473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五关节参数一览（源自 joint_map.json）</a:t>
            </a:r>
            <a:endParaRPr lang="en-US" sz="1500" noProof="1"/>
          </a:p>
        </p:txBody>
      </p:sp>
      <p:graphicFrame>
        <p:nvGraphicFramePr>
          <p:cNvPr id="14" name="jTable"/>
          <p:cNvGraphicFramePr>
            <a:graphicFrameLocks noGrp="1"/>
          </p:cNvGraphicFramePr>
          <p:nvPr/>
        </p:nvGraphicFramePr>
        <p:xfrm>
          <a:off x="6654800" y="1828800"/>
          <a:ext cx="4826000" cy="2743198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关节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角色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连杆长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限位 (°)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肩部俯仰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6.54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±120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肘部俯仰（大臂）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8.45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±120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11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肘部横摆（前倾 28°）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±90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371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腕部俯仰（小臂）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8.19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±120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371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J5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法兰卷绕（末端 roll）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3.72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±180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designHead"/>
          <p:cNvSpPr txBox="1"/>
          <p:nvPr/>
        </p:nvSpPr>
        <p:spPr>
          <a:xfrm>
            <a:off x="6654800" y="4800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从场景树读出的两个关键设计</a:t>
            </a:r>
            <a:endParaRPr lang="en-US" sz="1500" noProof="1"/>
          </a:p>
        </p:txBody>
      </p:sp>
      <p:sp>
        <p:nvSpPr>
          <p:cNvPr id="16" name="designList"/>
          <p:cNvSpPr txBox="1"/>
          <p:nvPr/>
        </p:nvSpPr>
        <p:spPr>
          <a:xfrm>
            <a:off x="6654800" y="51562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① 网格顶点已烘焙、对象变换 = I——几何外观与关节变换完全解耦；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② J_i 与 link_i 严格交替成链，扩展关节只需在链上插入一对节点。</a:t>
            </a:r>
            <a:endParaRPr lang="en-US" sz="1250" noProof="1"/>
          </a:p>
        </p:txBody>
      </p:sp>
      <p:sp>
        <p:nvSpPr>
          <p:cNvPr id="17" name="srcNote"/>
          <p:cNvSpPr txBox="1"/>
          <p:nvPr/>
        </p:nvSpPr>
        <p:spPr>
          <a:xfrm>
            <a:off x="6654800" y="6045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模型：Han’s Robot 5 自由度协作臂（实验一加工产物）</a:t>
            </a:r>
            <a:endParaRPr lang="en-US" sz="1050" noProof="1"/>
          </a:p>
        </p:txBody>
      </p:sp>
      <p:sp>
        <p:nvSpPr>
          <p:cNvPr id="18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9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16 / 27</a:t>
            </a:r>
            <a:endParaRPr lang="en-US" sz="10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URDF 模型解析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URDF：用一棵 link–joint 树描述整台机器人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defTxt"/>
          <p:cNvSpPr txBox="1"/>
          <p:nvPr/>
        </p:nvSpPr>
        <p:spPr>
          <a:xfrm>
            <a:off x="711200" y="1473200"/>
            <a:ext cx="5334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URDF（Unified Robot Description Format）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是 ROS 使用的 XML 格式，描述机器人的运动学、惯性属性与连杆几何（Lynch &amp; Park, §4.2）。</a:t>
            </a:r>
            <a:endParaRPr lang="en-US" sz="1300" noProof="1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300" b="1" noProof="1">
                <a:solidFill>
                  <a:srgbClr val="22271F"/>
                </a:solidFill>
                <a:latin typeface="MiSans"/>
                <a:ea typeface="MiSans"/>
              </a:rPr>
              <a:t>树结构</a:t>
            </a:r>
            <a:r>
              <a:rPr lang="en-US" sz="1300" noProof="1">
                <a:solidFill>
                  <a:srgbClr val="22271F"/>
                </a:solidFill>
                <a:latin typeface="MiSans"/>
                <a:ea typeface="MiSans"/>
              </a:rPr>
              <a:t>：节点是 link（连杆），边是 joint（关节）。可表示任意树形机构——串联臂、灵巧手，但不能表示 Stewart 平台等闭链。</a:t>
            </a:r>
            <a:endParaRPr lang="en-US" sz="1300" noProof="1"/>
          </a:p>
        </p:txBody>
      </p:sp>
      <p:sp>
        <p:nvSpPr>
          <p:cNvPr id="7" name="jointHead"/>
          <p:cNvSpPr txBox="1"/>
          <p:nvPr/>
        </p:nvSpPr>
        <p:spPr>
          <a:xfrm>
            <a:off x="711200" y="3251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joint 的四个关键子元素</a:t>
            </a:r>
            <a:endParaRPr lang="en-US" sz="1500" noProof="1"/>
          </a:p>
        </p:txBody>
      </p:sp>
      <p:sp>
        <p:nvSpPr>
          <p:cNvPr id="8" name="jointList"/>
          <p:cNvSpPr txBox="1"/>
          <p:nvPr/>
        </p:nvSpPr>
        <p:spPr>
          <a:xfrm>
            <a:off x="711200" y="3606800"/>
            <a:ext cx="533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parent / child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：关节连接的父连杆与子连杆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origin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：关节变量为 0 时，子连杆坐标系相对父连杆坐标系的位姿（xyz + rpy）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axis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：在</a:t>
            </a:r>
            <a:r>
              <a:rPr lang="en-US" sz="1250" noProof="1">
                <a:solidFill>
                  <a:srgbClr val="C75B26"/>
                </a:solidFill>
                <a:latin typeface="MiSans"/>
                <a:ea typeface="MiSans"/>
              </a:rPr>
              <a:t>子连杆坐标系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中表达的运动轴单位向量（转动轴 / 移动方向）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limit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：lower / upper 关节限位 + effort / velocity 上限</a:t>
            </a:r>
            <a:endParaRPr lang="en-US" sz="1250" noProof="1"/>
          </a:p>
        </p:txBody>
      </p:sp>
      <p:sp>
        <p:nvSpPr>
          <p:cNvPr id="9" name="jointType"/>
          <p:cNvSpPr txBox="1"/>
          <p:nvPr/>
        </p:nvSpPr>
        <p:spPr>
          <a:xfrm>
            <a:off x="711200" y="57404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8072"/>
                </a:solidFill>
                <a:latin typeface="MiSans"/>
                <a:ea typeface="MiSans"/>
              </a:rPr>
              <a:t>关节类型：revolute（有限位转动）/ continuous（无限位转动）/ prismatic（平移）/ fixed（虚拟固定关节）</a:t>
            </a:r>
            <a:endParaRPr lang="en-US" sz="1150" noProof="1"/>
          </a:p>
        </p:txBody>
      </p:sp>
      <p:sp>
        <p:nvSpPr>
          <p:cNvPr id="10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350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1" name="codePanel"/>
          <p:cNvSpPr/>
          <p:nvPr/>
        </p:nvSpPr>
        <p:spPr>
          <a:xfrm>
            <a:off x="6654800" y="1473200"/>
            <a:ext cx="4826000" cy="27178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12" name="codeTxt"/>
          <p:cNvSpPr txBox="1"/>
          <p:nvPr/>
        </p:nvSpPr>
        <p:spPr>
          <a:xfrm>
            <a:off x="6858000" y="1574800"/>
            <a:ext cx="44196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FA98F"/>
                </a:solidFill>
                <a:latin typeface="Consolas"/>
                <a:ea typeface="MiSans"/>
              </a:rPr>
              <a:t>&lt;!-- UR5 肩关节片段 --&gt;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&lt;joint name="shoulder_pan_joint"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      type="revolute"&gt;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&lt;parent link="base_link"/&gt;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&lt;child link="shoulder_link"/&gt;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&lt;origin xyz="0 0 0.089"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        rpy="0 0 0"/&gt;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&lt;axis xyz="0 0 1"/&gt;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&lt;limit lower="-6.283" upper="6.283"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       effort="150" velocity="3.14"/&gt;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&lt;/joint&gt;</a:t>
            </a:r>
            <a:endParaRPr lang="en-US" sz="1100" noProof="1"/>
          </a:p>
        </p:txBody>
      </p:sp>
      <p:sp>
        <p:nvSpPr>
          <p:cNvPr id="13" name="mapHead"/>
          <p:cNvSpPr txBox="1"/>
          <p:nvPr/>
        </p:nvSpPr>
        <p:spPr>
          <a:xfrm>
            <a:off x="6654800" y="4394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URDF → Three.js 场景树的映射</a:t>
            </a:r>
            <a:endParaRPr lang="en-US" sz="1500" noProof="1"/>
          </a:p>
        </p:txBody>
      </p:sp>
      <p:sp>
        <p:nvSpPr>
          <p:cNvPr id="14" name="mapList"/>
          <p:cNvSpPr txBox="1"/>
          <p:nvPr/>
        </p:nvSpPr>
        <p:spPr>
          <a:xfrm>
            <a:off x="6654800" y="4749800"/>
            <a:ext cx="4826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① 每个 link 建一个 Object3D，几何 / 材质挂为其子节点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② 按 parent–child 把 Object3D 挂成树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③ origin 写入节点的局部 position / quaternion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④ 关节驱动 = 绕 axis 修改局部 rotation，并用 limit 做钳制</a:t>
            </a:r>
            <a:endParaRPr lang="en-US" sz="1250" noProof="1"/>
          </a:p>
        </p:txBody>
      </p:sp>
      <p:sp>
        <p:nvSpPr>
          <p:cNvPr id="15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6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17 / 27</a:t>
            </a:r>
            <a:endParaRPr lang="en-US" sz="10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程序骨架 · 素材加载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robotLoader.js：一次 traverse 建出关节表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codePanel"/>
          <p:cNvSpPr/>
          <p:nvPr/>
        </p:nvSpPr>
        <p:spPr>
          <a:xfrm>
            <a:off x="711200" y="1327149"/>
            <a:ext cx="5969000" cy="4502151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7" name="codeTxt"/>
          <p:cNvSpPr txBox="1"/>
          <p:nvPr/>
        </p:nvSpPr>
        <p:spPr>
          <a:xfrm>
            <a:off x="914400" y="1549400"/>
            <a:ext cx="5562600" cy="40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export async function loadRobot(url, jointMap) {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const robot = (await loader.loadAsync(url)).scene;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8FA98F"/>
                </a:solidFill>
                <a:latin typeface="Consolas"/>
                <a:ea typeface="MiSans"/>
              </a:rPr>
              <a:t>  // ① traverse：收集带元数据的关节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const joints = [];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robot.traverse((node) =&gt; {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if (node.userData?.joint === true) {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joints.push({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  name: node.name,      </a:t>
            </a:r>
            <a:r>
              <a:rPr lang="en-US" sz="1000" noProof="1">
                <a:solidFill>
                  <a:srgbClr val="8FA98F"/>
                </a:solidFill>
                <a:latin typeface="Consolas"/>
                <a:ea typeface="MiSans"/>
              </a:rPr>
              <a:t>// 'J1'…'J5'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  node,                  </a:t>
            </a:r>
            <a:r>
              <a:rPr lang="en-US" sz="1000" noProof="1">
                <a:solidFill>
                  <a:srgbClr val="8FA98F"/>
                </a:solidFill>
                <a:latin typeface="Consolas"/>
                <a:ea typeface="MiSans"/>
              </a:rPr>
              <a:t>// 场景树引用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  axis: node.userData.axis,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  lower: node.userData.limit.lower,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  upper: node.userData.limit.upper,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  angle: 0,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  });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}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});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8FA98F"/>
                </a:solidFill>
                <a:latin typeface="Consolas"/>
                <a:ea typeface="MiSans"/>
              </a:rPr>
              <a:t>  // ② 对拍校验：数量 / 顺序 / 限位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validateAgainstMap(joints, jointMap);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8FA98F"/>
                </a:solidFill>
                <a:latin typeface="Consolas"/>
                <a:ea typeface="MiSans"/>
              </a:rPr>
              <a:t>  // ③ 记录零位四元数，关节角在其上叠加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joints.forEach(j =&gt;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  j.node.userData.qZero = j.node.quaternion.clone());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const tcp = robot.getObjectByName('tcp');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  return { robot, joints, tcp };</a:t>
            </a:r>
            <a:endParaRPr lang="en-US" sz="1000" noProof="1"/>
          </a:p>
          <a:p>
            <a:pPr>
              <a:lnSpc>
                <a:spcPct val="132000"/>
              </a:lnSpc>
            </a:pPr>
            <a:r>
              <a:rPr lang="en-US" sz="1000" noProof="1">
                <a:solidFill>
                  <a:srgbClr val="E9E5D7"/>
                </a:solidFill>
                <a:latin typeface="Consolas"/>
                <a:ea typeface="MiSans"/>
              </a:rPr>
              <a:t>}</a:t>
            </a:r>
            <a:endParaRPr lang="en-US" sz="1000" noProof="1"/>
          </a:p>
        </p:txBody>
      </p:sp>
      <p:sp>
        <p:nvSpPr>
          <p:cNvPr id="8" name="codeNote"/>
          <p:cNvSpPr txBox="1"/>
          <p:nvPr/>
        </p:nvSpPr>
        <p:spPr>
          <a:xfrm>
            <a:off x="711200" y="57658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返回的 </a:t>
            </a:r>
            <a:r>
              <a:rPr lang="en-US" sz="1200" noProof="1">
                <a:solidFill>
                  <a:srgbClr val="C75B26"/>
                </a:solidFill>
                <a:latin typeface="MiSans"/>
                <a:ea typeface="MiSans"/>
              </a:rPr>
              <a:t>{ robot, joints, tcp }</a:t>
            </a: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 三件套即示教器的全部模型侧接口：robot 挂场景，joints 驱动，tcp 读末端位姿。</a:t>
            </a:r>
            <a:endParaRPr lang="en-US" sz="1200" noProof="1"/>
          </a:p>
        </p:txBody>
      </p:sp>
      <p:sp>
        <p:nvSpPr>
          <p:cNvPr id="9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9342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0" name="stepHead"/>
          <p:cNvSpPr txBox="1"/>
          <p:nvPr/>
        </p:nvSpPr>
        <p:spPr>
          <a:xfrm>
            <a:off x="7239000" y="1473200"/>
            <a:ext cx="4241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五步解析</a:t>
            </a:r>
            <a:endParaRPr lang="en-US" sz="1500" noProof="1"/>
          </a:p>
        </p:txBody>
      </p:sp>
      <p:sp>
        <p:nvSpPr>
          <p:cNvPr id="11" name="steps"/>
          <p:cNvSpPr txBox="1"/>
          <p:nvPr/>
        </p:nvSpPr>
        <p:spPr>
          <a:xfrm>
            <a:off x="7239000" y="1828800"/>
            <a:ext cx="4241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C75B26"/>
                </a:solidFill>
                <a:latin typeface="MiSans"/>
                <a:ea typeface="MiSans"/>
              </a:rPr>
              <a:t>① loadAsync</a:t>
            </a: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  异步载入 GLB，gltf.scene 就是命名链的根节点。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C75B26"/>
                </a:solidFill>
                <a:latin typeface="MiSans"/>
                <a:ea typeface="MiSans"/>
              </a:rPr>
              <a:t>② traverse 建表</a:t>
            </a: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  一次遍历整棵树，按 userData.joint === true 筛出 5 个关节，组成 { name, node, axis, lower, upper, angle }。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C75B26"/>
                </a:solidFill>
                <a:latin typeface="MiSans"/>
                <a:ea typeface="MiSans"/>
              </a:rPr>
              <a:t>③ extras → userData</a:t>
            </a: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  Blender 导出的自定义属性（axis / limit / joint）原样挂在节点上，是"素材即数据"的通道。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C75B26"/>
                </a:solidFill>
                <a:latin typeface="MiSans"/>
                <a:ea typeface="MiSans"/>
              </a:rPr>
              <a:t>④ 对拍校验</a:t>
            </a: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  与 joint_map.json 比对数量、顺序、限位，不一致立即抛错——加载期关口，杜绝带病运行。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C75B26"/>
                </a:solidFill>
                <a:latin typeface="MiSans"/>
                <a:ea typeface="MiSans"/>
              </a:rPr>
              <a:t>⑤ qZero 机制</a:t>
            </a:r>
            <a:r>
              <a:rPr lang="en-US" sz="1200" noProof="1">
                <a:solidFill>
                  <a:srgbClr val="22271F"/>
                </a:solidFill>
                <a:latin typeface="MiSans"/>
                <a:ea typeface="MiSans"/>
              </a:rPr>
              <a:t>  克隆零位四元数；setJoint 时 q = qZero ⊗ z(θ)。对应素材设计"J_i 静止旋转 = R_fix"。</a:t>
            </a:r>
            <a:endParaRPr lang="en-US" sz="1200" noProof="1"/>
          </a:p>
        </p:txBody>
      </p:sp>
      <p:sp>
        <p:nvSpPr>
          <p:cNvPr id="12" name="srcNote"/>
          <p:cNvSpPr txBox="1"/>
          <p:nvPr/>
        </p:nvSpPr>
        <p:spPr>
          <a:xfrm>
            <a:off x="7239000" y="5994400"/>
            <a:ext cx="4241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代码来源：实验一_模型加工与程序骨架细化方案 §6.2（GLTFLoader 自 three/addons）</a:t>
            </a:r>
            <a:endParaRPr lang="en-US" sz="1050" noProof="1"/>
          </a:p>
        </p:txBody>
      </p:sp>
      <p:sp>
        <p:nvSpPr>
          <p:cNvPr id="13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4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18 / 27</a:t>
            </a:r>
            <a:endParaRPr lang="en-US" sz="10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关节控制实现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关节驱动：限位钳制 + 场景树自动完成 FK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codePanel"/>
          <p:cNvSpPr/>
          <p:nvPr/>
        </p:nvSpPr>
        <p:spPr>
          <a:xfrm>
            <a:off x="711200" y="1498600"/>
            <a:ext cx="5461000" cy="27686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7" name="codeTxt"/>
          <p:cNvSpPr txBox="1"/>
          <p:nvPr/>
        </p:nvSpPr>
        <p:spPr>
          <a:xfrm>
            <a:off x="914400" y="1625600"/>
            <a:ext cx="50546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FA98F"/>
                </a:solidFill>
                <a:latin typeface="Consolas"/>
                <a:ea typeface="MiSans"/>
              </a:rPr>
              <a:t>// 关节限位钳制（URDF limit 的代码化身）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function clamp(v, min, max) {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return Math.max(min, Math.min(max, v));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}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FA98F"/>
                </a:solidFill>
                <a:latin typeface="Consolas"/>
                <a:ea typeface="MiSans"/>
              </a:rPr>
              <a:t>// 驱动关节：绕 URDF axis 旋转局部坐标系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function setJoint(joint, angleRad) {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const q = clamp(angleRad, joint.lower,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                joint.upper);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joint.node.setRotationFromAxisAngle(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  joint.axis, q);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}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FA98F"/>
                </a:solidFill>
                <a:latin typeface="Consolas"/>
                <a:ea typeface="MiSans"/>
              </a:rPr>
              <a:t>// 渲染时 Three.js 自动沿树连乘矩阵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FA98F"/>
                </a:solidFill>
                <a:latin typeface="Consolas"/>
                <a:ea typeface="MiSans"/>
              </a:rPr>
              <a:t>// node.matrixWorld = 父矩阵 × 局部矩阵</a:t>
            </a:r>
            <a:endParaRPr lang="en-US" sz="1100" noProof="1"/>
          </a:p>
        </p:txBody>
      </p:sp>
      <p:sp>
        <p:nvSpPr>
          <p:cNvPr id="8" name="codeNote"/>
          <p:cNvSpPr txBox="1"/>
          <p:nvPr/>
        </p:nvSpPr>
        <p:spPr>
          <a:xfrm>
            <a:off x="711200" y="4259943"/>
            <a:ext cx="54610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要点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限位必须</a:t>
            </a:r>
            <a:r>
              <a:rPr lang="en-US" sz="1250" noProof="1">
                <a:solidFill>
                  <a:srgbClr val="C75B26"/>
                </a:solidFill>
                <a:latin typeface="MiSans"/>
                <a:ea typeface="MiSans"/>
              </a:rPr>
              <a:t>先钳制、后驱动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，防止滑块或数值输入把关节拉到物理不可达位置。</a:t>
            </a:r>
            <a:endParaRPr lang="en-US" sz="1250" noProof="1"/>
          </a:p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· 你不需要手写矩阵连乘——搭对场景树，FK 就由渲染管线免费完成；DH 手算则用于</a:t>
            </a:r>
            <a:r>
              <a:rPr lang="en-US" sz="1250" noProof="1">
                <a:solidFill>
                  <a:srgbClr val="C75B26"/>
                </a:solidFill>
                <a:latin typeface="MiSans"/>
                <a:ea typeface="MiSans"/>
              </a:rPr>
              <a:t>验证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它。</a:t>
            </a:r>
            <a:endParaRPr lang="en-US" sz="1250" noProof="1"/>
          </a:p>
        </p:txBody>
      </p:sp>
      <p:sp>
        <p:nvSpPr>
          <p:cNvPr id="9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eyJ2aWV3Qm94IjpbMSwzNzJdLCJwb2ludHMiOiIwLDAgMCwzNzIiLCJjdXJ2ZSI6InNoYXJwIn0</pptd:line>
              </p:ext>
            </p:extLst>
          </p:nvPr>
        </p:nvSpPr>
        <p:spPr>
          <a:xfrm>
            <a:off x="6477000" y="1498600"/>
            <a:ext cx="12700" cy="4724400"/>
          </a:xfrm>
          <a:custGeom>
            <a:avLst/>
            <a:gdLst/>
            <a:ahLst/>
            <a:cxnLst/>
            <a:rect l="l" t="t" r="r" b="b"/>
            <a:pathLst>
              <a:path w="1" h="372">
                <a:moveTo>
                  <a:pt x="0" y="0"/>
                </a:moveTo>
                <a:lnTo>
                  <a:pt x="0" y="372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0" name="limHead"/>
          <p:cNvSpPr txBox="1"/>
          <p:nvPr/>
        </p:nvSpPr>
        <p:spPr>
          <a:xfrm>
            <a:off x="6781800" y="14986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UR5 关节限位（实验给定值）</a:t>
            </a:r>
            <a:endParaRPr lang="en-US" sz="1500" noProof="1"/>
          </a:p>
        </p:txBody>
      </p:sp>
      <p:graphicFrame>
        <p:nvGraphicFramePr>
          <p:cNvPr id="11" name="limTable"/>
          <p:cNvGraphicFramePr>
            <a:graphicFrameLocks noGrp="1"/>
          </p:cNvGraphicFramePr>
          <p:nvPr/>
        </p:nvGraphicFramePr>
        <p:xfrm>
          <a:off x="6781800" y="1854200"/>
          <a:ext cx="4699000" cy="2667000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710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关节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下限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上限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Base（基座）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−360°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+360°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Shoulder（肩）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−180°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+180°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Elbow（肘）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−180°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+180°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Wrist 1（腕 1）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−360°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+360°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Wrist 2（腕 2）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−360°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+360°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Wrist 3（腕 3）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−360°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+360°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limNote"/>
          <p:cNvSpPr txBox="1"/>
          <p:nvPr/>
        </p:nvSpPr>
        <p:spPr>
          <a:xfrm>
            <a:off x="6781800" y="4673600"/>
            <a:ext cx="4699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注意：UR5 的 URDF 常把关节声明为 continuous（理论无限位），但真实机器人因走线与机械结构仍存在限位。仿真中按本表施加限位，行为才与真机一致（Lynch &amp; Park §4.2 对 UR5 有同样说明）。</a:t>
            </a:r>
            <a:endParaRPr lang="en-US" sz="1250" noProof="1"/>
          </a:p>
        </p:txBody>
      </p:sp>
      <p:sp>
        <p:nvSpPr>
          <p:cNvPr id="13" name="srcNote"/>
          <p:cNvSpPr txBox="1"/>
          <p:nvPr/>
        </p:nvSpPr>
        <p:spPr>
          <a:xfrm>
            <a:off x="6781800" y="6045200"/>
            <a:ext cx="469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对应实验要求 3）；实验内容 4）</a:t>
            </a:r>
            <a:endParaRPr lang="en-US" sz="1050" noProof="1"/>
          </a:p>
        </p:txBody>
      </p:sp>
      <p:sp>
        <p:nvSpPr>
          <p:cNvPr id="14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5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19 / 27</a:t>
            </a:r>
            <a:endParaRPr lang="en-US" sz="10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示教器设计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虚拟示教器：工业机器人的标准人机界面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paraHead"/>
          <p:cNvSpPr txBox="1"/>
          <p:nvPr/>
        </p:nvSpPr>
        <p:spPr>
          <a:xfrm>
            <a:off x="711200" y="1473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三种示教范式（工业示教编程）</a:t>
            </a:r>
            <a:endParaRPr lang="en-US" sz="1500" noProof="1"/>
          </a:p>
        </p:txBody>
      </p:sp>
      <p:sp>
        <p:nvSpPr>
          <p:cNvPr id="7" name="p1box"/>
          <p:cNvSpPr/>
          <p:nvPr/>
        </p:nvSpPr>
        <p:spPr>
          <a:xfrm>
            <a:off x="711200" y="1828800"/>
            <a:ext cx="5334000" cy="7874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8" name="p1txt"/>
          <p:cNvSpPr txBox="1"/>
          <p:nvPr/>
        </p:nvSpPr>
        <p:spPr>
          <a:xfrm>
            <a:off x="914400" y="1930400"/>
            <a:ext cx="4927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点动 Jog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：按住按钮关节连续转动，松开即停——粗调姿态用</a:t>
            </a:r>
            <a:endParaRPr lang="en-US" sz="1250" noProof="1"/>
          </a:p>
        </p:txBody>
      </p:sp>
      <p:sp>
        <p:nvSpPr>
          <p:cNvPr id="9" name="p2box"/>
          <p:cNvSpPr/>
          <p:nvPr/>
        </p:nvSpPr>
        <p:spPr>
          <a:xfrm>
            <a:off x="711200" y="2743200"/>
            <a:ext cx="5334000" cy="7874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0" name="p2txt"/>
          <p:cNvSpPr txBox="1"/>
          <p:nvPr/>
        </p:nvSpPr>
        <p:spPr>
          <a:xfrm>
            <a:off x="914400" y="2844800"/>
            <a:ext cx="4927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增量 Inch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：每按一次走固定步长（如 0.1° / 1°）——精对点位用</a:t>
            </a:r>
            <a:endParaRPr lang="en-US" sz="1250" noProof="1"/>
          </a:p>
        </p:txBody>
      </p:sp>
      <p:sp>
        <p:nvSpPr>
          <p:cNvPr id="11" name="p3box"/>
          <p:cNvSpPr/>
          <p:nvPr/>
        </p:nvSpPr>
        <p:spPr>
          <a:xfrm>
            <a:off x="711200" y="3657600"/>
            <a:ext cx="5334000" cy="7874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2" name="p3txt"/>
          <p:cNvSpPr txBox="1"/>
          <p:nvPr/>
        </p:nvSpPr>
        <p:spPr>
          <a:xfrm>
            <a:off x="914400" y="3759200"/>
            <a:ext cx="4927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连续 Continuous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：给定目标角，按设定速度连续运行到位</a:t>
            </a:r>
            <a:endParaRPr lang="en-US" sz="1250" noProof="1"/>
          </a:p>
        </p:txBody>
      </p:sp>
      <p:sp>
        <p:nvSpPr>
          <p:cNvPr id="13" name="paraNote"/>
          <p:cNvSpPr txBox="1"/>
          <p:nvPr/>
        </p:nvSpPr>
        <p:spPr>
          <a:xfrm>
            <a:off x="711200" y="4648200"/>
            <a:ext cx="5334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设计原则</a:t>
            </a: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：示教器的每个功能都对应真机的安全或精度需求——使能开关防止误触发，急停切断一切运动，速度倍率让操作者"先慢后快"地验证轨迹。仿真界面应复刻这套心智模型。</a:t>
            </a:r>
            <a:endParaRPr lang="en-US" sz="1250" noProof="1"/>
          </a:p>
        </p:txBody>
      </p:sp>
      <p:sp>
        <p:nvSpPr>
          <p:cNvPr id="14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350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5" name="uiHead"/>
          <p:cNvSpPr txBox="1"/>
          <p:nvPr/>
        </p:nvSpPr>
        <p:spPr>
          <a:xfrm>
            <a:off x="6654800" y="1473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本实验示教器功能清单</a:t>
            </a:r>
            <a:endParaRPr lang="en-US" sz="1500" noProof="1"/>
          </a:p>
        </p:txBody>
      </p:sp>
      <p:sp>
        <p:nvSpPr>
          <p:cNvPr id="16" name="uiList"/>
          <p:cNvSpPr txBox="1"/>
          <p:nvPr/>
        </p:nvSpPr>
        <p:spPr>
          <a:xfrm>
            <a:off x="6654800" y="1828800"/>
            <a:ext cx="4826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□ 6 个关节滑块 + 数值输入（角度制显示）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□ 关节坐标显示（各关节当前角）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□ 世界坐标显示（末端 x, y, z + RPY）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□ 关节使能 / 失能切换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□ </a:t>
            </a:r>
            <a:r>
              <a:rPr lang="en-US" sz="1250" b="1" noProof="1">
                <a:solidFill>
                  <a:srgbClr val="C75B26"/>
                </a:solidFill>
                <a:latin typeface="MiSans"/>
                <a:ea typeface="MiSans"/>
              </a:rPr>
              <a:t>急停按钮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：一键冻结所有运动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□ 速度倍率调节（10% ~ 100%）</a:t>
            </a:r>
            <a:endParaRPr lang="en-US" sz="1250" noProof="1"/>
          </a:p>
        </p:txBody>
      </p:sp>
      <p:sp>
        <p:nvSpPr>
          <p:cNvPr id="17" name="codePanel"/>
          <p:cNvSpPr/>
          <p:nvPr/>
        </p:nvSpPr>
        <p:spPr>
          <a:xfrm>
            <a:off x="6654800" y="4114800"/>
            <a:ext cx="4826000" cy="19050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18" name="codeTxt"/>
          <p:cNvSpPr txBox="1"/>
          <p:nvPr/>
        </p:nvSpPr>
        <p:spPr>
          <a:xfrm>
            <a:off x="6858000" y="4241800"/>
            <a:ext cx="44196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FA98F"/>
                </a:solidFill>
                <a:latin typeface="Consolas"/>
                <a:ea typeface="MiSans"/>
              </a:rPr>
              <a:t>// 用 lil-gui 十分钟搭出示教器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const gui = new GUI({title:'示教器'});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gui.add(state,'j1',-180,180,0.1)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 .name('肩关节(°)')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   .onChange(v =&gt; setJoint(J1, rad(v)));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gui.add(state,'estop').name('急停');</a:t>
            </a:r>
            <a:endParaRPr lang="en-US" sz="1100" noProof="1"/>
          </a:p>
        </p:txBody>
      </p:sp>
      <p:sp>
        <p:nvSpPr>
          <p:cNvPr id="19" name="srcNote"/>
          <p:cNvSpPr txBox="1"/>
          <p:nvPr/>
        </p:nvSpPr>
        <p:spPr>
          <a:xfrm>
            <a:off x="6654800" y="6121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对应实验要求 4）；实验内容 5）</a:t>
            </a:r>
            <a:endParaRPr lang="en-US" sz="1050" noProof="1"/>
          </a:p>
        </p:txBody>
      </p:sp>
      <p:sp>
        <p:nvSpPr>
          <p:cNvPr id="20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1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20 / 27</a:t>
            </a:r>
            <a:endParaRPr lang="en-US" sz="10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位姿显示与验证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末端位姿实时显示，并用三档测试验证 FK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dispHead"/>
          <p:cNvSpPr txBox="1"/>
          <p:nvPr/>
        </p:nvSpPr>
        <p:spPr>
          <a:xfrm>
            <a:off x="711200" y="1473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位姿面板：显示什么</a:t>
            </a:r>
            <a:endParaRPr lang="en-US" sz="1500" noProof="1"/>
          </a:p>
        </p:txBody>
      </p:sp>
      <p:sp>
        <p:nvSpPr>
          <p:cNvPr id="7" name="dispList"/>
          <p:cNvSpPr txBox="1"/>
          <p:nvPr/>
        </p:nvSpPr>
        <p:spPr>
          <a:xfrm>
            <a:off x="711200" y="18288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位置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：末端 TCP 在基座（世界）系中的 x, y, z（单位 m，保留 4 位小数）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姿态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：RPY（roll / pitch / yaw，角度制，面向人）+ 四元数 (x, y, z, w)（面向程序）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刷新率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：跟随渲染主循环，每帧更新</a:t>
            </a:r>
            <a:endParaRPr lang="en-US" sz="1250" noProof="1"/>
          </a:p>
        </p:txBody>
      </p:sp>
      <p:sp>
        <p:nvSpPr>
          <p:cNvPr id="8" name="codePanel"/>
          <p:cNvSpPr/>
          <p:nvPr/>
        </p:nvSpPr>
        <p:spPr>
          <a:xfrm>
            <a:off x="711200" y="3505200"/>
            <a:ext cx="5334000" cy="15240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9" name="codeTxt"/>
          <p:cNvSpPr txBox="1"/>
          <p:nvPr/>
        </p:nvSpPr>
        <p:spPr>
          <a:xfrm>
            <a:off x="914400" y="3632200"/>
            <a:ext cx="4927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FA98F"/>
                </a:solidFill>
                <a:latin typeface="Consolas"/>
                <a:ea typeface="MiSans"/>
              </a:rPr>
              <a:t>// 每帧从场景树读取末端位姿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const p = new THREE.Vector3();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const q = new THREE.Quaternion();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tool0.getWorldPosition(p);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tool0.getWorldQuaternion(q);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9E5D7"/>
                </a:solidFill>
                <a:latin typeface="Consolas"/>
                <a:ea typeface="MiSans"/>
              </a:rPr>
              <a:t>const rpy = new THREE.Euler().setFromQuaternion(q,'XYZ');</a:t>
            </a:r>
            <a:endParaRPr lang="en-US" sz="1100" noProof="1"/>
          </a:p>
        </p:txBody>
      </p:sp>
      <p:sp>
        <p:nvSpPr>
          <p:cNvPr id="10" name="dispNote"/>
          <p:cNvSpPr txBox="1"/>
          <p:nvPr/>
        </p:nvSpPr>
        <p:spPr>
          <a:xfrm>
            <a:off x="711200" y="51816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RPY 与四元数之间可互相换算（setFromQuaternion / setFromEuler）。界面同时显示两者：RPY 供人判读，四元数供与外部程序对数。</a:t>
            </a:r>
            <a:endParaRPr lang="en-US" sz="1250" noProof="1"/>
          </a:p>
        </p:txBody>
      </p:sp>
      <p:sp>
        <p:nvSpPr>
          <p:cNvPr id="11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350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2" name="verHead"/>
          <p:cNvSpPr txBox="1"/>
          <p:nvPr/>
        </p:nvSpPr>
        <p:spPr>
          <a:xfrm>
            <a:off x="6654800" y="1473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FK 正确性的三档验证</a:t>
            </a:r>
            <a:endParaRPr lang="en-US" sz="1500" noProof="1"/>
          </a:p>
        </p:txBody>
      </p:sp>
      <p:sp>
        <p:nvSpPr>
          <p:cNvPr id="13" name="v1box"/>
          <p:cNvSpPr/>
          <p:nvPr/>
        </p:nvSpPr>
        <p:spPr>
          <a:xfrm>
            <a:off x="6654800" y="1828800"/>
            <a:ext cx="4826000" cy="11684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4" name="v1txt"/>
          <p:cNvSpPr txBox="1"/>
          <p:nvPr/>
        </p:nvSpPr>
        <p:spPr>
          <a:xfrm>
            <a:off x="6858000" y="1930400"/>
            <a:ext cx="4419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C75B26"/>
                </a:solidFill>
                <a:latin typeface="MiSans"/>
                <a:ea typeface="MiSans"/>
              </a:rPr>
              <a:t>第 1 档 · 全零位形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所有关节置 0，末端位姿应等于 DH 表推出的基准位形——解析解，最先跑通。</a:t>
            </a:r>
            <a:endParaRPr lang="en-US" sz="1250" noProof="1"/>
          </a:p>
        </p:txBody>
      </p:sp>
      <p:sp>
        <p:nvSpPr>
          <p:cNvPr id="15" name="v2box"/>
          <p:cNvSpPr/>
          <p:nvPr/>
        </p:nvSpPr>
        <p:spPr>
          <a:xfrm>
            <a:off x="6654800" y="3149600"/>
            <a:ext cx="4826000" cy="11684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6" name="v2txt"/>
          <p:cNvSpPr txBox="1"/>
          <p:nvPr/>
        </p:nvSpPr>
        <p:spPr>
          <a:xfrm>
            <a:off x="6858000" y="3251200"/>
            <a:ext cx="4419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C75B26"/>
                </a:solidFill>
                <a:latin typeface="MiSans"/>
                <a:ea typeface="MiSans"/>
              </a:rPr>
              <a:t>第 2 档 · 单关节转动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每次只转一个关节到 ±90°，手算结果与界面读数对比，隔离定位轴向 / 原点错误。</a:t>
            </a:r>
            <a:endParaRPr lang="en-US" sz="1250" noProof="1"/>
          </a:p>
        </p:txBody>
      </p:sp>
      <p:sp>
        <p:nvSpPr>
          <p:cNvPr id="17" name="v3box"/>
          <p:cNvSpPr/>
          <p:nvPr/>
        </p:nvSpPr>
        <p:spPr>
          <a:xfrm>
            <a:off x="6654800" y="4470400"/>
            <a:ext cx="4826000" cy="1168400"/>
          </a:xfrm>
          <a:prstGeom prst="rect">
            <a:avLst/>
          </a:prstGeom>
          <a:solidFill>
            <a:srgbClr val="F1EDE2"/>
          </a:solidFill>
          <a:ln w="19050">
            <a:solidFill>
              <a:srgbClr val="C75B26"/>
            </a:solidFill>
          </a:ln>
        </p:spPr>
      </p:sp>
      <p:sp>
        <p:nvSpPr>
          <p:cNvPr id="18" name="v3txt"/>
          <p:cNvSpPr txBox="1"/>
          <p:nvPr/>
        </p:nvSpPr>
        <p:spPr>
          <a:xfrm>
            <a:off x="6858000" y="4572000"/>
            <a:ext cx="4419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C75B26"/>
                </a:solidFill>
                <a:latin typeface="MiSans"/>
                <a:ea typeface="MiSans"/>
              </a:rPr>
              <a:t>第 3 档 · 随机位形对拍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随机生成 100 组关节角，自写 FK 函数与场景树 matrixWorld 对拍，误差 &lt; 1e-6 视为通过。</a:t>
            </a:r>
            <a:endParaRPr lang="en-US" sz="1250" noProof="1"/>
          </a:p>
        </p:txBody>
      </p:sp>
      <p:sp>
        <p:nvSpPr>
          <p:cNvPr id="19" name="srcNote"/>
          <p:cNvSpPr txBox="1"/>
          <p:nvPr/>
        </p:nvSpPr>
        <p:spPr>
          <a:xfrm>
            <a:off x="6654800" y="5791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对应实验要求 2）、5）</a:t>
            </a:r>
            <a:endParaRPr lang="en-US" sz="1050" noProof="1"/>
          </a:p>
        </p:txBody>
      </p:sp>
      <p:sp>
        <p:nvSpPr>
          <p:cNvPr id="20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1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21 / 27</a:t>
            </a:r>
            <a:endParaRPr lang="en-US" sz="10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3" name="pageTopic"/>
          <p:cNvSpPr txBox="1"/>
          <p:nvPr/>
        </p:nvSpPr>
        <p:spPr>
          <a:xfrm>
            <a:off x="7114032" y="384048"/>
            <a:ext cx="437083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7A8072"/>
                </a:solidFill>
                <a:latin typeface="MiSans"/>
                <a:ea typeface="MiSans"/>
              </a:rPr>
              <a:t>实验内容 · 分析方法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 dirty="0" err="1">
                <a:solidFill>
                  <a:srgbClr val="22271F"/>
                </a:solidFill>
                <a:latin typeface="MiSans"/>
                <a:ea typeface="MiSans"/>
              </a:rPr>
              <a:t>把“动过”变成数据：轨迹分析与可达区域</a:t>
            </a:r>
            <a:endParaRPr sz="2600" b="1" i="0" dirty="0">
              <a:solidFill>
                <a:srgbClr val="22271F"/>
              </a:solidFill>
              <a:latin typeface="MiSans"/>
              <a:ea typeface="MiSans"/>
            </a:endParaRPr>
          </a:p>
        </p:txBody>
      </p:sp>
      <p:sp>
        <p:nvSpPr>
          <p:cNvPr id="5" name="rule"/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rajHead"/>
          <p:cNvSpPr txBox="1"/>
          <p:nvPr/>
        </p:nvSpPr>
        <p:spPr>
          <a:xfrm>
            <a:off x="713232" y="1472184"/>
            <a:ext cx="5458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轨迹分析（对应要求 c）</a:t>
            </a:r>
          </a:p>
        </p:txBody>
      </p:sp>
      <p:pic>
        <p:nvPicPr>
          <p:cNvPr id="7" name="trajImg" descr="fk_end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8800"/>
            <a:ext cx="4526280" cy="3520440"/>
          </a:xfrm>
          <a:prstGeom prst="rect">
            <a:avLst/>
          </a:prstGeom>
        </p:spPr>
      </p:pic>
      <p:sp>
        <p:nvSpPr>
          <p:cNvPr id="8" name="trajCap"/>
          <p:cNvSpPr txBox="1"/>
          <p:nvPr/>
        </p:nvSpPr>
        <p:spPr>
          <a:xfrm>
            <a:off x="713232" y="5486400"/>
            <a:ext cx="5458968" cy="868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072"/>
                </a:solidFill>
                <a:latin typeface="MiSans"/>
                <a:ea typeface="MiSans"/>
              </a:rPr>
              <a:t>执行程序时逐帧采样 TCP 位姿 → 绘制轨迹路径与位置 / 速度-时间曲线，观察插值是否平滑、有无速度突变；图：5 关节正弦驱动下的末端轨迹采样。</a:t>
            </a:r>
          </a:p>
        </p:txBody>
      </p:sp>
      <p:sp>
        <p:nvSpPr>
          <p:cNvPr id="9" name="midRule"/>
          <p:cNvSpPr/>
          <p:nvPr/>
        </p:nvSpPr>
        <p:spPr>
          <a:xfrm>
            <a:off x="6501384" y="1472184"/>
            <a:ext cx="10058" cy="4745736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sHead"/>
          <p:cNvSpPr txBox="1"/>
          <p:nvPr/>
        </p:nvSpPr>
        <p:spPr>
          <a:xfrm>
            <a:off x="6803136" y="1472184"/>
            <a:ext cx="467258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1523F"/>
                </a:solidFill>
                <a:latin typeface="MiSans"/>
                <a:ea typeface="MiSans"/>
              </a:rPr>
              <a:t>可达区域分析（对应要求 d）</a:t>
            </a:r>
          </a:p>
        </p:txBody>
      </p:sp>
      <p:pic>
        <p:nvPicPr>
          <p:cNvPr id="11" name="wsImg" descr="workspace_r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828800"/>
            <a:ext cx="3631570" cy="3520440"/>
          </a:xfrm>
          <a:prstGeom prst="rect">
            <a:avLst/>
          </a:prstGeom>
        </p:spPr>
      </p:pic>
      <p:sp>
        <p:nvSpPr>
          <p:cNvPr id="12" name="wsCap"/>
          <p:cNvSpPr txBox="1"/>
          <p:nvPr/>
        </p:nvSpPr>
        <p:spPr>
          <a:xfrm>
            <a:off x="6803136" y="5486400"/>
            <a:ext cx="4672584" cy="868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072"/>
                </a:solidFill>
                <a:latin typeface="MiSans"/>
                <a:ea typeface="MiSans"/>
              </a:rPr>
              <a:t>关节限位内蒙特卡洛采样 → FK 求得 TCP 点云 → 截面 / 投影图标注外边界与不可达空洞，回答“这台臂究竟够得着哪里”；图：平面 2R 臂可达区域示意。</a:t>
            </a:r>
          </a:p>
        </p:txBody>
      </p:sp>
      <p:sp>
        <p:nvSpPr>
          <p:cNvPr id="13" name="footerL"/>
          <p:cNvSpPr txBox="1"/>
          <p:nvPr/>
        </p:nvSpPr>
        <p:spPr>
          <a:xfrm>
            <a:off x="713232" y="6528816"/>
            <a:ext cx="5084064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</a:p>
        </p:txBody>
      </p:sp>
      <p:sp>
        <p:nvSpPr>
          <p:cNvPr id="14" name="footerR"/>
          <p:cNvSpPr txBox="1"/>
          <p:nvPr/>
        </p:nvSpPr>
        <p:spPr>
          <a:xfrm>
            <a:off x="10213848" y="6528816"/>
            <a:ext cx="1271016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A8072"/>
                </a:solidFill>
                <a:latin typeface="MiSans"/>
                <a:ea typeface="MiSans"/>
              </a:rPr>
              <a:t>22 /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bot-trace">
            <a:hlinkClick r:id="" action="ppaction://media"/>
            <a:extLst>
              <a:ext uri="{FF2B5EF4-FFF2-40B4-BE49-F238E27FC236}">
                <a16:creationId xmlns:a16="http://schemas.microsoft.com/office/drawing/2014/main" id="{8CFE5A6C-9712-4D61-B12A-847ECBC748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13727" y="1302293"/>
            <a:ext cx="9652000" cy="5295900"/>
          </a:xfrm>
          <a:prstGeom prst="rect">
            <a:avLst/>
          </a:prstGeom>
        </p:spPr>
      </p:pic>
      <p:sp>
        <p:nvSpPr>
          <p:cNvPr id="3" name="kicker">
            <a:extLst>
              <a:ext uri="{FF2B5EF4-FFF2-40B4-BE49-F238E27FC236}">
                <a16:creationId xmlns:a16="http://schemas.microsoft.com/office/drawing/2014/main" id="{EB910E4D-0225-456E-805C-C80FA5ECDF18}"/>
              </a:ext>
            </a:extLst>
          </p:cNvPr>
          <p:cNvSpPr txBox="1"/>
          <p:nvPr/>
        </p:nvSpPr>
        <p:spPr>
          <a:xfrm>
            <a:off x="713232" y="384048"/>
            <a:ext cx="6345936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5DF3A6F-28B3-487A-91A3-AA11371532F8}"/>
              </a:ext>
            </a:extLst>
          </p:cNvPr>
          <p:cNvSpPr txBox="1"/>
          <p:nvPr/>
        </p:nvSpPr>
        <p:spPr>
          <a:xfrm>
            <a:off x="713232" y="630936"/>
            <a:ext cx="1077163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 dirty="0" err="1">
                <a:solidFill>
                  <a:srgbClr val="22271F"/>
                </a:solidFill>
                <a:latin typeface="MiSans"/>
                <a:ea typeface="MiSans"/>
              </a:rPr>
              <a:t>把“动过”变成数据：轨迹分析与可达区域</a:t>
            </a:r>
            <a:endParaRPr sz="2600" b="1" i="0" dirty="0">
              <a:solidFill>
                <a:srgbClr val="22271F"/>
              </a:solidFill>
              <a:latin typeface="MiSans"/>
              <a:ea typeface="MiSans"/>
            </a:endParaRP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C549D379-E33A-4F14-A4FB-F38C78802656}"/>
              </a:ext>
            </a:extLst>
          </p:cNvPr>
          <p:cNvSpPr/>
          <p:nvPr/>
        </p:nvSpPr>
        <p:spPr>
          <a:xfrm>
            <a:off x="713232" y="1271016"/>
            <a:ext cx="10771632" cy="10058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6169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课堂演示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演示：五步跑通最小机械臂仿真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s1"/>
          <p:cNvSpPr/>
          <p:nvPr/>
        </p:nvSpPr>
        <p:spPr>
          <a:xfrm>
            <a:off x="711200" y="1600200"/>
            <a:ext cx="2032000" cy="25400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7" name="s1txt"/>
          <p:cNvSpPr txBox="1"/>
          <p:nvPr/>
        </p:nvSpPr>
        <p:spPr>
          <a:xfrm>
            <a:off x="863600" y="1727200"/>
            <a:ext cx="1727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C75B26"/>
                </a:solidFill>
                <a:latin typeface="MiSans"/>
                <a:ea typeface="MiSans"/>
              </a:rPr>
              <a:t>STEP 1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22271F"/>
                </a:solidFill>
                <a:latin typeface="MiSans"/>
                <a:ea typeface="MiSans"/>
              </a:rPr>
              <a:t>初始化场景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7A8072"/>
                </a:solidFill>
                <a:latin typeface="MiSans"/>
                <a:ea typeface="MiSans"/>
              </a:rPr>
              <a:t>渲染器 / 场景 / 相机 / 灯光 / OrbitControls / 地面网格</a:t>
            </a:r>
            <a:endParaRPr lang="en-US" sz="1150" noProof="1"/>
          </a:p>
        </p:txBody>
      </p:sp>
      <p:sp>
        <p:nvSpPr>
          <p:cNvPr id="8" name="s2"/>
          <p:cNvSpPr/>
          <p:nvPr/>
        </p:nvSpPr>
        <p:spPr>
          <a:xfrm>
            <a:off x="2895600" y="1600200"/>
            <a:ext cx="2032000" cy="25400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9" name="s2txt"/>
          <p:cNvSpPr txBox="1"/>
          <p:nvPr/>
        </p:nvSpPr>
        <p:spPr>
          <a:xfrm>
            <a:off x="3048000" y="1727200"/>
            <a:ext cx="1727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C75B26"/>
                </a:solidFill>
                <a:latin typeface="MiSans"/>
                <a:ea typeface="MiSans"/>
              </a:rPr>
              <a:t>STEP 2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22271F"/>
                </a:solidFill>
                <a:latin typeface="MiSans"/>
                <a:ea typeface="MiSans"/>
              </a:rPr>
              <a:t>加载模型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7A8072"/>
                </a:solidFill>
                <a:latin typeface="MiSans"/>
                <a:ea typeface="MiSans"/>
              </a:rPr>
              <a:t>GLTFLoader 或 URDFLoader 载入机械臂；检查单位与朝向</a:t>
            </a:r>
            <a:endParaRPr lang="en-US" sz="1150" noProof="1"/>
          </a:p>
        </p:txBody>
      </p:sp>
      <p:sp>
        <p:nvSpPr>
          <p:cNvPr id="10" name="s3"/>
          <p:cNvSpPr/>
          <p:nvPr/>
        </p:nvSpPr>
        <p:spPr>
          <a:xfrm>
            <a:off x="5080000" y="1600200"/>
            <a:ext cx="2032000" cy="25400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1" name="s3txt"/>
          <p:cNvSpPr txBox="1"/>
          <p:nvPr/>
        </p:nvSpPr>
        <p:spPr>
          <a:xfrm>
            <a:off x="5232400" y="1727200"/>
            <a:ext cx="1727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C75B26"/>
                </a:solidFill>
                <a:latin typeface="MiSans"/>
                <a:ea typeface="MiSans"/>
              </a:rPr>
              <a:t>STEP 3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22271F"/>
                </a:solidFill>
                <a:latin typeface="MiSans"/>
                <a:ea typeface="MiSans"/>
              </a:rPr>
              <a:t>建关节映射表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7A8072"/>
                </a:solidFill>
                <a:latin typeface="MiSans"/>
                <a:ea typeface="MiSans"/>
              </a:rPr>
              <a:t>traverse 场景树，收集 {名称, 节点, 轴, 限位}</a:t>
            </a:r>
            <a:endParaRPr lang="en-US" sz="1150" noProof="1"/>
          </a:p>
        </p:txBody>
      </p:sp>
      <p:sp>
        <p:nvSpPr>
          <p:cNvPr id="12" name="s4"/>
          <p:cNvSpPr/>
          <p:nvPr/>
        </p:nvSpPr>
        <p:spPr>
          <a:xfrm>
            <a:off x="7264400" y="1600200"/>
            <a:ext cx="2032000" cy="2540000"/>
          </a:xfrm>
          <a:prstGeom prst="rect">
            <a:avLst/>
          </a:prstGeom>
          <a:solidFill>
            <a:srgbClr val="FBFAF6"/>
          </a:solidFill>
          <a:ln w="19050">
            <a:solidFill>
              <a:srgbClr val="31523F"/>
            </a:solidFill>
          </a:ln>
        </p:spPr>
      </p:sp>
      <p:sp>
        <p:nvSpPr>
          <p:cNvPr id="13" name="s4txt"/>
          <p:cNvSpPr txBox="1"/>
          <p:nvPr/>
        </p:nvSpPr>
        <p:spPr>
          <a:xfrm>
            <a:off x="7416800" y="1727200"/>
            <a:ext cx="1727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C75B26"/>
                </a:solidFill>
                <a:latin typeface="MiSans"/>
                <a:ea typeface="MiSans"/>
              </a:rPr>
              <a:t>STEP 4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22271F"/>
                </a:solidFill>
                <a:latin typeface="MiSans"/>
                <a:ea typeface="MiSans"/>
              </a:rPr>
              <a:t>绑定示教器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7A8072"/>
                </a:solidFill>
                <a:latin typeface="MiSans"/>
                <a:ea typeface="MiSans"/>
              </a:rPr>
              <a:t>lil-gui 滑块 → setJoint → 限位钳制 → 局部旋转</a:t>
            </a:r>
            <a:endParaRPr lang="en-US" sz="1150" noProof="1"/>
          </a:p>
        </p:txBody>
      </p:sp>
      <p:sp>
        <p:nvSpPr>
          <p:cNvPr id="14" name="s5"/>
          <p:cNvSpPr/>
          <p:nvPr/>
        </p:nvSpPr>
        <p:spPr>
          <a:xfrm>
            <a:off x="9448800" y="1600200"/>
            <a:ext cx="2032000" cy="2540000"/>
          </a:xfrm>
          <a:prstGeom prst="rect">
            <a:avLst/>
          </a:prstGeom>
          <a:solidFill>
            <a:srgbClr val="F1EDE2"/>
          </a:solidFill>
          <a:ln w="25400">
            <a:solidFill>
              <a:srgbClr val="C75B26"/>
            </a:solidFill>
          </a:ln>
        </p:spPr>
      </p:sp>
      <p:sp>
        <p:nvSpPr>
          <p:cNvPr id="15" name="s5txt"/>
          <p:cNvSpPr txBox="1"/>
          <p:nvPr/>
        </p:nvSpPr>
        <p:spPr>
          <a:xfrm>
            <a:off x="9601200" y="1727200"/>
            <a:ext cx="1727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C75B26"/>
                </a:solidFill>
                <a:latin typeface="MiSans"/>
                <a:ea typeface="MiSans"/>
              </a:rPr>
              <a:t>STEP 5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b="1" noProof="1">
                <a:solidFill>
                  <a:srgbClr val="22271F"/>
                </a:solidFill>
                <a:latin typeface="MiSans"/>
                <a:ea typeface="MiSans"/>
              </a:rPr>
              <a:t>验证与显示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7A8072"/>
                </a:solidFill>
                <a:latin typeface="MiSans"/>
                <a:ea typeface="MiSans"/>
              </a:rPr>
              <a:t>每帧读 matrixWorld，显示位姿面板，跑三档验证</a:t>
            </a:r>
            <a:endParaRPr lang="en-US" sz="1150" noProof="1"/>
          </a:p>
        </p:txBody>
      </p:sp>
      <p:sp>
        <p:nvSpPr>
          <p:cNvPr id="16" name="codePanel"/>
          <p:cNvSpPr/>
          <p:nvPr/>
        </p:nvSpPr>
        <p:spPr>
          <a:xfrm>
            <a:off x="711200" y="4419600"/>
            <a:ext cx="7112000" cy="1905000"/>
          </a:xfrm>
          <a:prstGeom prst="rect">
            <a:avLst/>
          </a:prstGeom>
          <a:solidFill>
            <a:srgbClr val="272C27"/>
          </a:solidFill>
          <a:ln>
            <a:noFill/>
          </a:ln>
        </p:spPr>
      </p:sp>
      <p:sp>
        <p:nvSpPr>
          <p:cNvPr id="17" name="codeTxt"/>
          <p:cNvSpPr txBox="1"/>
          <p:nvPr/>
        </p:nvSpPr>
        <p:spPr>
          <a:xfrm>
            <a:off x="914400" y="4533900"/>
            <a:ext cx="6705600" cy="170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8FA98F"/>
                </a:solidFill>
                <a:latin typeface="Consolas"/>
                <a:ea typeface="MiSans"/>
              </a:rPr>
              <a:t>// STEP 3 的关键代码：从场景树收集关节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const joints = [];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robot.traverse(node =&gt; {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if (node.userData.jointType === 'revolute')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  joints.push({ name: node.name, node,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    axis: node.userData.axis,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    lower: node.userData.limit.lower,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      upper: node.userData.limit.upper });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E9E5D7"/>
                </a:solidFill>
                <a:latin typeface="Consolas"/>
                <a:ea typeface="MiSans"/>
              </a:rPr>
              <a:t>});</a:t>
            </a:r>
            <a:endParaRPr lang="en-US" sz="1050" noProof="1"/>
          </a:p>
        </p:txBody>
      </p:sp>
      <p:sp>
        <p:nvSpPr>
          <p:cNvPr id="18" name="demoNote"/>
          <p:cNvSpPr txBox="1"/>
          <p:nvPr/>
        </p:nvSpPr>
        <p:spPr>
          <a:xfrm>
            <a:off x="8128000" y="4419600"/>
            <a:ext cx="33528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b="1" noProof="1">
                <a:solidFill>
                  <a:srgbClr val="22271F"/>
                </a:solidFill>
                <a:latin typeface="MiSans"/>
                <a:ea typeface="MiSans"/>
              </a:rPr>
              <a:t>课堂现场任务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跟随教师完成 STEP 1~3，确认模型加载且 J1 能被滑块驱动；STEP 4~5 在实验课内完成。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C75B26"/>
                </a:solidFill>
                <a:latin typeface="MiSans"/>
                <a:ea typeface="MiSans"/>
              </a:rPr>
              <a:t>每完成一步立即目视检查，不要攒到最后一起调试。</a:t>
            </a:r>
            <a:endParaRPr lang="en-US" sz="1200" noProof="1"/>
          </a:p>
        </p:txBody>
      </p:sp>
      <p:sp>
        <p:nvSpPr>
          <p:cNvPr id="19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20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23 / 27</a:t>
            </a:r>
            <a:endParaRPr lang="en-US" sz="10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课堂演示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正运动学动画：给定 5 关节角驱动全臂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gifFrame"/>
          <p:cNvSpPr/>
          <p:nvPr/>
        </p:nvSpPr>
        <p:spPr>
          <a:xfrm>
            <a:off x="1371600" y="1625600"/>
            <a:ext cx="4267200" cy="4267200"/>
          </a:xfrm>
          <a:prstGeom prst="rect">
            <a:avLst/>
          </a:prstGeom>
          <a:solidFill>
            <a:srgbClr val="F1EDE2"/>
          </a:solidFill>
          <a:ln w="12700">
            <a:solidFill>
              <a:srgbClr val="DAD5C8"/>
            </a:solidFill>
          </a:ln>
        </p:spPr>
      </p:sp>
      <p:pic>
        <p:nvPicPr>
          <p:cNvPr id="7" name="gifIm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422400" y="1676400"/>
            <a:ext cx="4165600" cy="4165600"/>
          </a:xfrm>
          <a:prstGeom prst="rect">
            <a:avLst/>
          </a:prstGeom>
          <a:ln>
            <a:noFill/>
          </a:ln>
        </p:spPr>
      </p:pic>
      <p:sp>
        <p:nvSpPr>
          <p:cNvPr id="8" name="gifCaption"/>
          <p:cNvSpPr txBox="1"/>
          <p:nvPr/>
        </p:nvSpPr>
        <p:spPr>
          <a:xfrm>
            <a:off x="711200" y="60198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7A8072"/>
                </a:solidFill>
                <a:latin typeface="MiSans"/>
                <a:ea typeface="MiSans"/>
              </a:rPr>
              <a:t>动画：robot_arm_fk_demo.gif（60 帧，480×480，透明背景）</a:t>
            </a:r>
            <a:endParaRPr lang="en-US" sz="1100" noProof="1"/>
          </a:p>
        </p:txBody>
      </p:sp>
      <p:sp>
        <p:nvSpPr>
          <p:cNvPr id="9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604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0" name="flowHead"/>
          <p:cNvSpPr txBox="1"/>
          <p:nvPr/>
        </p:nvSpPr>
        <p:spPr>
          <a:xfrm>
            <a:off x="6908800" y="14732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动画的四步生成逻辑</a:t>
            </a:r>
            <a:endParaRPr lang="en-US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lowList"/>
              <p:cNvSpPr txBox="1"/>
              <p:nvPr/>
            </p:nvSpPr>
            <p:spPr>
              <a:xfrm>
                <a:off x="6908800" y="1828800"/>
                <a:ext cx="4572000" cy="30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250" b="1" noProof="1">
                    <a:solidFill>
                      <a:srgbClr val="C75B26"/>
                    </a:solidFill>
                    <a:latin typeface="MiSans"/>
                    <a:ea typeface="MiSans"/>
                  </a:rPr>
                  <a:t>① 采样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生成关节角序列 </a:t>
                </a:r>
                <a14:m>
                  <m:oMath xmlns:m="http://schemas.openxmlformats.org/officeDocument/2006/math">
                    <m:r>
                      <a:rPr lang="en-US" sz="12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)=(</m:t>
                    </m:r>
                    <m:sSub>
                      <m:sSubPr>
                        <m:ctrlP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2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，各关节在限位内平滑变化；</a:t>
                </a:r>
                <a:endParaRPr lang="en-US" sz="125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250" b="1" noProof="1">
                    <a:solidFill>
                      <a:srgbClr val="C75B26"/>
                    </a:solidFill>
                    <a:latin typeface="MiSans"/>
                    <a:ea typeface="MiSans"/>
                  </a:rPr>
                  <a:t>② FK 递推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按 </a:t>
                </a:r>
                <a14:m>
                  <m:oMath xmlns:m="http://schemas.openxmlformats.org/officeDocument/2006/math">
                    <m:r>
                      <a:rPr lang="en-US" sz="12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𝑝𝑜</m:t>
                    </m:r>
                    <m:sSub>
                      <m:sSubPr>
                        <m:ctrlP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50" i="1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𝑝𝑜</m:t>
                    </m:r>
                    <m:sSub>
                      <m:sSubPr>
                        <m:ctrlP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2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250" i="0" noProof="1">
                        <a:solidFill>
                          <a:srgbClr val="22271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250" i="0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50" i="1" noProof="1">
                            <a:solidFill>
                              <a:srgbClr val="22271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逐级求末端位姿，得到 tcp 轨迹；</a:t>
                </a:r>
                <a:endParaRPr lang="en-US" sz="125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250" b="1" noProof="1">
                    <a:solidFill>
                      <a:srgbClr val="C75B26"/>
                    </a:solidFill>
                    <a:latin typeface="MiSans"/>
                    <a:ea typeface="MiSans"/>
                  </a:rPr>
                  <a:t>③ 驱动场景树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每帧写 J_i 局部旋转（Blender：spin.rotation_euler[2] = θ），渲染一帧；</a:t>
                </a:r>
                <a:endParaRPr lang="en-US" sz="125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250" b="1" noProof="1">
                    <a:solidFill>
                      <a:srgbClr val="C75B26"/>
                    </a:solidFill>
                    <a:latin typeface="MiSans"/>
                    <a:ea typeface="MiSans"/>
                  </a:rPr>
                  <a:t>④ 合成输出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60 帧序列合成 GIF，末端轨迹与数值曲线 fk_end_trajectory.png 一致。</a:t>
                </a:r>
                <a:endParaRPr lang="en-US" sz="125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1" name="flowList"/>
              <p:cNvSpPr txBox="1"/>
              <p:nvPr/>
            </p:nvSpPr>
            <p:spPr>
              <a:xfrm>
                <a:off x="6908800" y="1828800"/>
                <a:ext cx="4572000" cy="30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250" noProof="1" b="1">
                    <a:solidFill>
                      <a:srgbClr val="C75B26"/>
                    </a:solidFill>
                    <a:latin typeface="MiSans"/>
                    <a:ea typeface="MiSans"/>
                  </a:rPr>
                  <a:t>① 采样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生成关节角序列 \(q(t)=(\theta_1,\dots,\theta_5)\)，各关节在限位内平滑变化；</a:t>
                </a:r>
                <a:endParaRPr lang="en-US" sz="125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250" noProof="1" b="1">
                    <a:solidFill>
                      <a:srgbClr val="C75B26"/>
                    </a:solidFill>
                    <a:latin typeface="MiSans"/>
                    <a:ea typeface="MiSans"/>
                  </a:rPr>
                  <a:t>② FK 递推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按 \(pos_j = pos_{j-1} + W_{j-1}t_j\) 逐级求末端位姿，得到 tcp 轨迹；</a:t>
                </a:r>
                <a:endParaRPr lang="en-US" sz="125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250" noProof="1" b="1">
                    <a:solidFill>
                      <a:srgbClr val="C75B26"/>
                    </a:solidFill>
                    <a:latin typeface="MiSans"/>
                    <a:ea typeface="MiSans"/>
                  </a:rPr>
                  <a:t>③ 驱动场景树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每帧写 J_i 局部旋转（Blender：spin.rotation_euler[2] = θ），渲染一帧；</a:t>
                </a:r>
                <a:endParaRPr lang="en-US" sz="125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250" noProof="1" b="1">
                    <a:solidFill>
                      <a:srgbClr val="C75B26"/>
                    </a:solidFill>
                    <a:latin typeface="MiSans"/>
                    <a:ea typeface="MiSans"/>
                  </a:rPr>
                  <a:t>④ 合成输出</a:t>
                </a:r>
                <a:r>
                  <a:rPr lang="en-US" sz="1250" noProof="1">
                    <a:solidFill>
                      <a:srgbClr val="22271F"/>
                    </a:solidFill>
                    <a:latin typeface="MiSans"/>
                    <a:ea typeface="MiSans"/>
                  </a:rPr>
                  <a:t>  60 帧序列合成 GIF，末端轨迹与数值曲线 fk_end_trajectory.png 一致。</a:t>
                </a:r>
                <a:endParaRPr lang="en-US" sz="1250" noProof="1"/>
              </a:p>
            </p:txBody>
          </p:sp>
        </mc:Fallback>
      </mc:AlternateContent>
      <p:sp>
        <p:nvSpPr>
          <p:cNvPr id="12" name="watchHead"/>
          <p:cNvSpPr txBox="1"/>
          <p:nvPr/>
        </p:nvSpPr>
        <p:spPr>
          <a:xfrm>
            <a:off x="6908800" y="51054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观察要点</a:t>
            </a:r>
            <a:endParaRPr lang="en-US" sz="1500" noProof="1"/>
          </a:p>
        </p:txBody>
      </p:sp>
      <p:sp>
        <p:nvSpPr>
          <p:cNvPr id="13" name="watchList"/>
          <p:cNvSpPr txBox="1"/>
          <p:nvPr/>
        </p:nvSpPr>
        <p:spPr>
          <a:xfrm>
            <a:off x="6908800" y="54610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7A8072"/>
                </a:solidFill>
                <a:latin typeface="MiSans"/>
                <a:ea typeface="MiSans"/>
              </a:rPr>
              <a:t>转动某关节时，其下游所有连杆整体跟随——层级即运动链；J3 横摆让末端轨迹偏离单一平面。</a:t>
            </a:r>
            <a:endParaRPr lang="en-US" sz="1250" noProof="1"/>
          </a:p>
        </p:txBody>
      </p:sp>
      <p:sp>
        <p:nvSpPr>
          <p:cNvPr id="14" name="srcNote"/>
          <p:cNvSpPr txBox="1"/>
          <p:nvPr/>
        </p:nvSpPr>
        <p:spPr>
          <a:xfrm>
            <a:off x="6908800" y="6299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A8072"/>
                </a:solidFill>
                <a:latin typeface="MiSans"/>
                <a:ea typeface="MiSans"/>
              </a:rPr>
              <a:t>素材：robot_arm_fk_demo.gif（实验一加工产物）</a:t>
            </a:r>
            <a:endParaRPr lang="en-US" sz="1050" noProof="1"/>
          </a:p>
        </p:txBody>
      </p:sp>
      <p:sp>
        <p:nvSpPr>
          <p:cNvPr id="15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6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24 / 27</a:t>
            </a:r>
            <a:endParaRPr lang="en-US" sz="10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常见错误与调试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五个高频错误，以及对应的排查动作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graphicFrame>
        <p:nvGraphicFramePr>
          <p:cNvPr id="6" name="errTable"/>
          <p:cNvGraphicFramePr>
            <a:graphicFrameLocks noGrp="1"/>
          </p:cNvGraphicFramePr>
          <p:nvPr/>
        </p:nvGraphicFramePr>
        <p:xfrm>
          <a:off x="711200" y="1549400"/>
          <a:ext cx="10769600" cy="3302000"/>
        </p:xfrm>
        <a:graphic>
          <a:graphicData uri="http://schemas.openxmlformats.org/drawingml/2006/table">
            <a:tbl>
              <a:tblPr/>
              <a:tblGrid>
                <a:gridCol w="646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7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6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症状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根因与排查动作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关节朝错误方向转动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URDF axis 表达在子连杆系而非世界系——在子节点局部空间旋转，不要换算到世界系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模型巨大 / 渺小、陷入地面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单位混淆（URDF 用 m，部分 GLTF 用 mm）与 Y-up / Z-up 差异——加载后先打印 boundingBox 核对尺寸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位姿数值差一个固定偏移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origin 的 rpy 理解反了或变换顺序错——回第 8 页核对变换链左乘顺序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滑块拖到边界后模型抖动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未做限位钳制或角度制 / 弧度制混用——clamp 先行，界面度数 × π/180 再驱动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姿态显示跳变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欧拉角在 ±180° 处的表示不连续（万向节锁邻域）——内部一律用四元数，仅显示层转 RPY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dbgHead"/>
          <p:cNvSpPr txBox="1"/>
          <p:nvPr/>
        </p:nvSpPr>
        <p:spPr>
          <a:xfrm>
            <a:off x="711200" y="50800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调试三板斧</a:t>
            </a:r>
            <a:endParaRPr lang="en-US" sz="1500" noProof="1"/>
          </a:p>
        </p:txBody>
      </p:sp>
      <p:sp>
        <p:nvSpPr>
          <p:cNvPr id="8" name="dbgList"/>
          <p:cNvSpPr txBox="1"/>
          <p:nvPr/>
        </p:nvSpPr>
        <p:spPr>
          <a:xfrm>
            <a:off x="711200" y="5435600"/>
            <a:ext cx="10769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① 打印矩阵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：console.table(node.matrixWorld.elements) 直接看 4×4 矩阵数值　</a:t>
            </a: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② 可视化坐标轴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：给每个关节挂 AxesHelper，轴向错误一眼可见　</a:t>
            </a:r>
            <a:r>
              <a:rPr lang="en-US" sz="1250" b="1" noProof="1">
                <a:solidFill>
                  <a:srgbClr val="22271F"/>
                </a:solidFill>
                <a:latin typeface="MiSans"/>
                <a:ea typeface="MiSans"/>
              </a:rPr>
              <a:t>③ 二分隔离</a:t>
            </a:r>
            <a:r>
              <a:rPr lang="en-US" sz="1250" noProof="1">
                <a:solidFill>
                  <a:srgbClr val="22271F"/>
                </a:solidFill>
                <a:latin typeface="MiSans"/>
                <a:ea typeface="MiSans"/>
              </a:rPr>
              <a:t>：每次只动一个关节，把"链式错误"拆成"单关节错误"</a:t>
            </a:r>
            <a:endParaRPr lang="en-US" sz="1250" noProof="1"/>
          </a:p>
        </p:txBody>
      </p:sp>
      <p:sp>
        <p:nvSpPr>
          <p:cNvPr id="9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0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25 / 27</a:t>
            </a:r>
            <a:endParaRPr lang="en-US" sz="10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机械臂仿真（一）</a:t>
            </a:r>
            <a:endParaRPr lang="en-US" sz="1200" noProof="1"/>
          </a:p>
        </p:txBody>
      </p:sp>
      <p:sp>
        <p:nvSpPr>
          <p:cNvPr id="3" name="pageTopic"/>
          <p:cNvSpPr txBox="1"/>
          <p:nvPr/>
        </p:nvSpPr>
        <p:spPr>
          <a:xfrm>
            <a:off x="7112000" y="381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7A8072"/>
                </a:solidFill>
                <a:latin typeface="MiSans"/>
                <a:ea typeface="MiSans"/>
              </a:rPr>
              <a:t>实践任务与验收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350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MiSans"/>
                <a:ea typeface="MiSans"/>
              </a:rPr>
              <a:t>实验任务、验收标准与 8 学时分配</a:t>
            </a:r>
            <a:endParaRPr lang="en-US" sz="26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270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6" name="taskHead"/>
          <p:cNvSpPr txBox="1"/>
          <p:nvPr/>
        </p:nvSpPr>
        <p:spPr>
          <a:xfrm>
            <a:off x="711200" y="14732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31523F"/>
                </a:solidFill>
                <a:latin typeface="MiSans"/>
                <a:ea typeface="MiSans"/>
              </a:rPr>
              <a:t>验收清单（对应实验要求 a~d）</a:t>
            </a:r>
            <a:endParaRPr lang="en-US" sz="1500" noProof="1"/>
          </a:p>
        </p:txBody>
      </p:sp>
      <p:sp>
        <p:nvSpPr>
          <p:cNvPr id="7" name="taskList"/>
          <p:cNvSpPr txBox="1"/>
          <p:nvPr/>
        </p:nvSpPr>
        <p:spPr>
          <a:xfrm>
            <a:off x="711200" y="1828800"/>
            <a:ext cx="5461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sz="1250">
                <a:solidFill>
                  <a:srgbClr val="22271F"/>
                </a:solidFill>
                <a:latin typeface="MiSans"/>
                <a:ea typeface="MiSans"/>
              </a:rPr>
              <a:t>□ a 示教器交互：点动操作流畅，工具 / 用户坐标系标定完成且有验证数据</a:t>
            </a:r>
            <a:endParaRPr lang="en-US" sz="1250" noProof="1"/>
          </a:p>
          <a:p>
            <a:r>
              <a:rPr sz="1250">
                <a:solidFill>
                  <a:srgbClr val="22271F"/>
                </a:solidFill>
                <a:latin typeface="MiSans"/>
                <a:ea typeface="MiSans"/>
              </a:rPr>
              <a:t>□ b 示教器编程：≥4 个 pose 的 MOVJ 程序可连续执行，动作动画完整</a:t>
            </a:r>
          </a:p>
          <a:p>
            <a:r>
              <a:rPr sz="1250">
                <a:solidFill>
                  <a:srgbClr val="22271F"/>
                </a:solidFill>
                <a:latin typeface="MiSans"/>
                <a:ea typeface="MiSans"/>
              </a:rPr>
              <a:t>□ c 轨迹分析：TCP 轨迹路径与位置 / 速度曲线齐全，分析结论明确</a:t>
            </a:r>
          </a:p>
          <a:p>
            <a:r>
              <a:rPr sz="1250">
                <a:solidFill>
                  <a:srgbClr val="22271F"/>
                </a:solidFill>
                <a:latin typeface="MiSans"/>
                <a:ea typeface="MiSans"/>
              </a:rPr>
              <a:t>□ d 可达区域：可达区域图正确，边界与不可达空洞标注清晰</a:t>
            </a:r>
          </a:p>
          <a:p>
            <a:r>
              <a:rPr sz="1250">
                <a:solidFill>
                  <a:srgbClr val="22271F"/>
                </a:solidFill>
                <a:latin typeface="MiSans"/>
                <a:ea typeface="MiSans"/>
              </a:rPr>
              <a:t>□ 工程质量：页面无 404 / 跨域报错，关节限位与急停功能有效</a:t>
            </a:r>
          </a:p>
          <a:p>
            <a:r>
              <a:rPr sz="1250">
                <a:solidFill>
                  <a:srgbClr val="22271F"/>
                </a:solidFill>
                <a:latin typeface="MiSans"/>
                <a:ea typeface="MiSans"/>
              </a:rPr>
              <a:t>□ 提交物：工程代码 + 演示动画 + 实验报告（标定 / 轨迹 / 可达区域）</a:t>
            </a:r>
          </a:p>
        </p:txBody>
      </p:sp>
      <p:sp>
        <p:nvSpPr>
          <p:cNvPr id="8" name="submitHead"/>
          <p:cNvSpPr txBox="1"/>
          <p:nvPr/>
        </p:nvSpPr>
        <p:spPr>
          <a:xfrm>
            <a:off x="711200" y="52070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提交物</a:t>
            </a:r>
            <a:endParaRPr lang="en-US" sz="1500" noProof="1"/>
          </a:p>
        </p:txBody>
      </p:sp>
      <p:sp>
        <p:nvSpPr>
          <p:cNvPr id="9" name="submitList"/>
          <p:cNvSpPr txBox="1"/>
          <p:nvPr/>
        </p:nvSpPr>
        <p:spPr>
          <a:xfrm>
            <a:off x="711200" y="55626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sz="1250">
                <a:solidFill>
                  <a:srgbClr val="22271F"/>
                </a:solidFill>
                <a:latin typeface="MiSans"/>
                <a:ea typeface="MiSans"/>
              </a:rPr>
              <a:t>可运行的工程代码 + 连续动作演示动画 + 实验报告（含坐标系标定数据、轨迹分析图与可达区域图）</a:t>
            </a:r>
            <a:endParaRPr lang="en-US" sz="1250" noProof="1"/>
          </a:p>
        </p:txBody>
      </p:sp>
      <p:sp>
        <p:nvSpPr>
          <p:cNvPr id="10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eyJ2aWV3Qm94IjpbMSwzNzRdLCJwb2ludHMiOiIwLDAgMCwzNzQiLCJjdXJ2ZSI6InNoYXJwIn0</pptd:line>
              </p:ext>
            </p:extLst>
          </p:nvPr>
        </p:nvSpPr>
        <p:spPr>
          <a:xfrm>
            <a:off x="6477000" y="1473200"/>
            <a:ext cx="12700" cy="4749800"/>
          </a:xfrm>
          <a:custGeom>
            <a:avLst/>
            <a:gdLst/>
            <a:ahLst/>
            <a:cxnLst/>
            <a:rect l="l" t="t" r="r" b="b"/>
            <a:pathLst>
              <a:path w="1" h="374">
                <a:moveTo>
                  <a:pt x="0" y="0"/>
                </a:moveTo>
                <a:lnTo>
                  <a:pt x="0" y="374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11" name="timeHead"/>
          <p:cNvSpPr txBox="1"/>
          <p:nvPr/>
        </p:nvSpPr>
        <p:spPr>
          <a:xfrm>
            <a:off x="6781800" y="1473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建议学时分配（共 8 学时）</a:t>
            </a:r>
            <a:endParaRPr lang="en-US" sz="1500" noProof="1"/>
          </a:p>
        </p:txBody>
      </p:sp>
      <p:graphicFrame>
        <p:nvGraphicFramePr>
          <p:cNvPr id="12" name="timeTable"/>
          <p:cNvGraphicFramePr>
            <a:graphicFrameLocks noGrp="1"/>
          </p:cNvGraphicFramePr>
          <p:nvPr/>
        </p:nvGraphicFramePr>
        <p:xfrm>
          <a:off x="6781800" y="1828800"/>
          <a:ext cx="4699000" cy="3063240"/>
        </p:xfrm>
        <a:graphic>
          <a:graphicData uri="http://schemas.openxmlformats.org/drawingml/2006/table">
            <a:tbl>
              <a:tblPr/>
              <a:tblGrid>
                <a:gridCol w="291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环节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学时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31523F"/>
                          </a:solidFill>
                          <a:latin typeface="Times New Roman"/>
                          <a:ea typeface="Times New Roman"/>
                        </a:rPr>
                        <a:t>产出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9050">
                      <a:solidFill>
                        <a:srgbClr val="3152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环境搭建与模型导入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模型可见可动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15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运动学原理（FK / IK）学习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推导笔记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示教器交互与坐标系标定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标定数据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示教器编程与动作执行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连续动画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轨迹与可达区域分析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分析图表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报告撰写与联调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/>
                          <a:ea typeface="Times New Roman"/>
                        </a:rPr>
                        <a:t>提交物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AD5C8"/>
                      </a:solidFill>
                    </a:lnT>
                    <a:lnB w="12700">
                      <a:solidFill>
                        <a:srgbClr val="DAD5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imeNote"/>
          <p:cNvSpPr txBox="1"/>
          <p:nvPr/>
        </p:nvSpPr>
        <p:spPr>
          <a:xfrm>
            <a:off x="6781800" y="50292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sz="1250" b="1">
                <a:solidFill>
                  <a:srgbClr val="22271F"/>
                </a:solidFill>
                <a:latin typeface="MiSans"/>
                <a:ea typeface="MiSans"/>
              </a:rPr>
              <a:t>评分导向：示教器编程的连续执行效果（要求 b）与轨迹 / 可达区域分析图表（要求 c、d）是本次实验的两个主要采分点。</a:t>
            </a:r>
            <a:endParaRPr lang="en-US" sz="1250" noProof="1"/>
          </a:p>
        </p:txBody>
      </p:sp>
      <p:sp>
        <p:nvSpPr>
          <p:cNvPr id="14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5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26 / 27</a:t>
            </a:r>
            <a:endParaRPr lang="en-US" sz="10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588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31523F"/>
                </a:solidFill>
                <a:latin typeface="MiSans"/>
                <a:ea typeface="MiSans"/>
              </a:rPr>
              <a:t>实验一 · 总结</a:t>
            </a:r>
            <a:endParaRPr lang="en-US" sz="1200" noProof="1"/>
          </a:p>
        </p:txBody>
      </p:sp>
      <p:sp>
        <p:nvSpPr>
          <p:cNvPr id="3" name="mainTitle"/>
          <p:cNvSpPr txBox="1"/>
          <p:nvPr/>
        </p:nvSpPr>
        <p:spPr>
          <a:xfrm>
            <a:off x="711200" y="10668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sz="3200" b="1">
                <a:solidFill>
                  <a:srgbClr val="22271F"/>
                </a:solidFill>
                <a:latin typeface="MiSans"/>
                <a:ea typeface="MiSans"/>
              </a:rPr>
              <a:t>从认识机械臂，到用示教器指挥机械臂</a:t>
            </a:r>
            <a:endParaRPr lang="en-US" sz="3200" noProof="1"/>
          </a:p>
        </p:txBody>
      </p:sp>
      <p:sp>
        <p:nvSpPr>
          <p:cNvPr id="4" name="sum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eyJ2aWV3Qm94IjpbODQ4LDFdLCJwb2ludHMiOiIwLDAgODQ4LDAiLCJjdXJ2ZSI6InNoYXJwIn0</pptd:line>
              </p:ext>
            </p:extLst>
          </p:nvPr>
        </p:nvSpPr>
        <p:spPr>
          <a:xfrm>
            <a:off x="711200" y="19050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848" h="1">
                <a:moveTo>
                  <a:pt x="0" y="0"/>
                </a:moveTo>
                <a:lnTo>
                  <a:pt x="848" y="0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5" name="mapHead"/>
          <p:cNvSpPr txBox="1"/>
          <p:nvPr/>
        </p:nvSpPr>
        <p:spPr>
          <a:xfrm>
            <a:off x="711200" y="2159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本实验知识地图</a:t>
            </a:r>
            <a:endParaRPr lang="en-US" sz="1500" noProof="1"/>
          </a:p>
        </p:txBody>
      </p:sp>
      <p:sp>
        <p:nvSpPr>
          <p:cNvPr id="6" name="mapList"/>
          <p:cNvSpPr txBox="1"/>
          <p:nvPr/>
        </p:nvSpPr>
        <p:spPr>
          <a:xfrm>
            <a:off x="711200" y="2514600"/>
            <a:ext cx="5334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C75B26"/>
                </a:solidFill>
                <a:latin typeface="MiSans"/>
                <a:ea typeface="MiSans"/>
              </a:rPr>
              <a:t>系统观</a:t>
            </a:r>
            <a:r>
              <a:rPr sz="1300">
                <a:solidFill>
                  <a:srgbClr val="22271F"/>
                </a:solidFill>
                <a:latin typeface="MiSans"/>
                <a:ea typeface="MiSans"/>
              </a:rPr>
              <a:t>　机械臂本体 + 示教器：关节 · 自由度 · 构型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C75B26"/>
                </a:solidFill>
                <a:latin typeface="MiSans"/>
                <a:ea typeface="MiSans"/>
              </a:rPr>
              <a:t>运动学</a:t>
            </a:r>
            <a:r>
              <a:rPr sz="1300">
                <a:solidFill>
                  <a:srgbClr val="22271F"/>
                </a:solidFill>
                <a:latin typeface="MiSans"/>
                <a:ea typeface="MiSans"/>
              </a:rPr>
              <a:t>　齐次变换 · DH 参数 · FK 连乘 · IK 多解与奇异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C75B26"/>
                </a:solidFill>
                <a:latin typeface="MiSans"/>
                <a:ea typeface="MiSans"/>
              </a:rPr>
              <a:t>工具链</a:t>
            </a:r>
            <a:r>
              <a:rPr sz="1300">
                <a:solidFill>
                  <a:srgbClr val="22271F"/>
                </a:solidFill>
                <a:latin typeface="MiSans"/>
                <a:ea typeface="MiSans"/>
              </a:rPr>
              <a:t>　http-server 部署 · DevTools 四项技能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C75B26"/>
                </a:solidFill>
                <a:latin typeface="MiSans"/>
                <a:ea typeface="MiSans"/>
              </a:rPr>
              <a:t>场景树</a:t>
            </a:r>
            <a:r>
              <a:rPr sz="1300">
                <a:solidFill>
                  <a:srgbClr val="22271F"/>
                </a:solidFill>
                <a:latin typeface="MiSans"/>
                <a:ea typeface="MiSans"/>
              </a:rPr>
              <a:t>　Object3D 层级 = 运动链 · matrixWorld 连乘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C75B26"/>
                </a:solidFill>
                <a:latin typeface="MiSans"/>
                <a:ea typeface="MiSans"/>
              </a:rPr>
              <a:t>工程化</a:t>
            </a:r>
            <a:r>
              <a:rPr sz="1300">
                <a:solidFill>
                  <a:srgbClr val="22271F"/>
                </a:solidFill>
                <a:latin typeface="MiSans"/>
                <a:ea typeface="MiSans"/>
              </a:rPr>
              <a:t>　限位钳制 · 示教器编程 MOVJ · 三档 FK 验证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C75B26"/>
                </a:solidFill>
                <a:latin typeface="MiSans"/>
                <a:ea typeface="MiSans"/>
              </a:rPr>
              <a:t>分析力</a:t>
            </a:r>
            <a:r>
              <a:rPr sz="1300">
                <a:solidFill>
                  <a:srgbClr val="22271F"/>
                </a:solidFill>
                <a:latin typeface="MiSans"/>
                <a:ea typeface="MiSans"/>
              </a:rPr>
              <a:t>　TCP 轨迹记录 · 可达区域蒙特卡洛采样</a:t>
            </a:r>
          </a:p>
        </p:txBody>
      </p:sp>
      <p:sp>
        <p:nvSpPr>
          <p:cNvPr id="7" name="mid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eyJ2aWV3Qm94IjpbMSwyNDhdLCJwb2ludHMiOiIwLDAgMCwyNDgiLCJjdXJ2ZSI6InNoYXJwIn0</pptd:line>
              </p:ext>
            </p:extLst>
          </p:nvPr>
        </p:nvSpPr>
        <p:spPr>
          <a:xfrm>
            <a:off x="6350000" y="2159000"/>
            <a:ext cx="12700" cy="3149600"/>
          </a:xfrm>
          <a:custGeom>
            <a:avLst/>
            <a:gdLst/>
            <a:ahLst/>
            <a:cxnLst/>
            <a:rect l="l" t="t" r="r" b="b"/>
            <a:pathLst>
              <a:path w="1" h="248">
                <a:moveTo>
                  <a:pt x="0" y="0"/>
                </a:moveTo>
                <a:lnTo>
                  <a:pt x="0" y="248"/>
                </a:lnTo>
              </a:path>
            </a:pathLst>
          </a:custGeom>
          <a:noFill/>
          <a:ln w="12700">
            <a:solidFill>
              <a:srgbClr val="DAD5C8"/>
            </a:solidFill>
          </a:ln>
        </p:spPr>
      </p:sp>
      <p:sp>
        <p:nvSpPr>
          <p:cNvPr id="8" name="nextHead"/>
          <p:cNvSpPr txBox="1"/>
          <p:nvPr/>
        </p:nvSpPr>
        <p:spPr>
          <a:xfrm>
            <a:off x="6654800" y="2159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1523F"/>
                </a:solidFill>
                <a:latin typeface="MiSans"/>
                <a:ea typeface="MiSans"/>
              </a:rPr>
              <a:t>留给实验二的问题</a:t>
            </a:r>
            <a:endParaRPr lang="en-US" sz="1500" noProof="1"/>
          </a:p>
        </p:txBody>
      </p:sp>
      <p:sp>
        <p:nvSpPr>
          <p:cNvPr id="9" name="nextQ"/>
          <p:cNvSpPr txBox="1"/>
          <p:nvPr/>
        </p:nvSpPr>
        <p:spPr>
          <a:xfrm>
            <a:off x="6654800" y="2514600"/>
            <a:ext cx="482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sz="1400">
                <a:solidFill>
                  <a:srgbClr val="22271F"/>
                </a:solidFill>
                <a:latin typeface="MiSans"/>
                <a:ea typeface="MiSans"/>
              </a:rPr>
              <a:t>MOVJ 让机械臂在示教点之间“跳”，但点位之间的路径形状不可控；作业要沿直线 / 圆弧精确走、要避开障碍——每个插值点怎么算？碰撞怎么提前发现？</a:t>
            </a:r>
            <a:endParaRPr lang="en-US" sz="1400" noProof="1"/>
          </a:p>
        </p:txBody>
      </p:sp>
      <p:sp>
        <p:nvSpPr>
          <p:cNvPr id="10" name="nextA"/>
          <p:cNvSpPr txBox="1"/>
          <p:nvPr/>
        </p:nvSpPr>
        <p:spPr>
          <a:xfrm>
            <a:off x="6654800" y="3810000"/>
            <a:ext cx="4826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sz="1250">
                <a:solidFill>
                  <a:srgbClr val="7A8072"/>
                </a:solidFill>
                <a:latin typeface="MiSans"/>
                <a:ea typeface="MiSans"/>
              </a:rPr>
              <a:t>这是轨迹规划与碰撞检测问题。实验二将在本实验 IK 的基础上引入笛卡尔空间插值与 MOVL 直线指令、碰撞检测与手眼校正，让示教程序走出“点到点”的局限。</a:t>
            </a:r>
            <a:endParaRPr lang="en-US" sz="1250" noProof="1"/>
          </a:p>
        </p:txBody>
      </p:sp>
      <p:sp>
        <p:nvSpPr>
          <p:cNvPr id="11" name="refHead"/>
          <p:cNvSpPr txBox="1"/>
          <p:nvPr/>
        </p:nvSpPr>
        <p:spPr>
          <a:xfrm>
            <a:off x="711200" y="55880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31523F"/>
                </a:solidFill>
                <a:latin typeface="MiSans"/>
                <a:ea typeface="MiSans"/>
              </a:rPr>
              <a:t>延伸阅读</a:t>
            </a:r>
            <a:endParaRPr lang="en-US" sz="1400" noProof="1"/>
          </a:p>
        </p:txBody>
      </p:sp>
      <p:sp>
        <p:nvSpPr>
          <p:cNvPr id="12" name="refList"/>
          <p:cNvSpPr txBox="1"/>
          <p:nvPr/>
        </p:nvSpPr>
        <p:spPr>
          <a:xfrm>
            <a:off x="711200" y="5918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sz="1150">
                <a:solidFill>
                  <a:srgbClr val="7A8072"/>
                </a:solidFill>
                <a:latin typeface="MiSans"/>
                <a:ea typeface="MiSans"/>
              </a:rPr>
              <a:t>Lynch &amp; Park《Modern Robotics》§3.3 齐次变换、§4.1–4.2 正运动学、§6.1–6.2 逆运动学　|　H. Asada《Introduction to Robotics》Ch.3 机构、Ch.4–5 运动学　|　MIT 6.4210 Lec 1 / 3 / 4</a:t>
            </a:r>
            <a:endParaRPr lang="en-US" sz="1150" noProof="1"/>
          </a:p>
        </p:txBody>
      </p:sp>
      <p:sp>
        <p:nvSpPr>
          <p:cNvPr id="13" name="footerL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8072"/>
                </a:solidFill>
                <a:latin typeface="MiSans"/>
                <a:ea typeface="MiSans"/>
              </a:rPr>
              <a:t>机械臂仿真实验讲义 · 实验一</a:t>
            </a:r>
            <a:endParaRPr lang="en-US" sz="1000" noProof="1"/>
          </a:p>
        </p:txBody>
      </p:sp>
      <p:sp>
        <p:nvSpPr>
          <p:cNvPr id="14" name="footerR"/>
          <p:cNvSpPr txBox="1"/>
          <p:nvPr/>
        </p:nvSpPr>
        <p:spPr>
          <a:xfrm>
            <a:off x="102108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8072"/>
                </a:solidFill>
                <a:latin typeface="MiSans"/>
                <a:ea typeface="MiSans"/>
              </a:rPr>
              <a:t>27 / 27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4818</Words>
  <Application>Microsoft Office PowerPoint</Application>
  <PresentationFormat>宽屏</PresentationFormat>
  <Paragraphs>739</Paragraphs>
  <Slides>33</Slides>
  <Notes>20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Times New Roman</vt:lpstr>
      <vt:lpstr>等线</vt:lpstr>
      <vt:lpstr>MiSans</vt:lpstr>
      <vt:lpstr>Consolas</vt:lpstr>
      <vt:lpstr>Cambria Math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 机械臂仿真（一）——模型导入、关节运动控制与示教器界面</dc:title>
  <dc:creator>hedev</dc:creator>
  <cp:lastModifiedBy>hedev</cp:lastModifiedBy>
  <cp:revision>15</cp:revision>
  <dcterms:modified xsi:type="dcterms:W3CDTF">2026-10-16T05:03:00Z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